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64f6d9-f19f-4ea7-c9c2-a9825d60de7c}">
          <p14:sldIdLst>
            <p14:sldId id="256"/>
            <p14:sldId id="257"/>
          </p14:sldIdLst>
        </p14:section>
        <p14:section name="Models" id="{00938ca6-b0e6-e82c-702f-4315a30d574e}">
          <p14:sldIdLst>
            <p14:sldId id="258"/>
            <p14:sldId id="259"/>
            <p14:sldId id="260"/>
            <p14:sldId id="261"/>
            <p14:sldId id="262"/>
          </p14:sldIdLst>
        </p14:section>
        <p14:section name="Results" id="{8b4bb0d7-894c-34b9-d80c-e43c6db16e15}">
          <p14:sldIdLst>
            <p14:sldId id="263"/>
            <p14:sldId id="264"/>
          </p14:sldIdLst>
        </p14:section>
        <p14:section name="Decision" id="{af30f73d-495b-35e8-f505-8064a977096a}">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Validation mAP@0.5 after each epoch</a:t>
            </a:r>
          </a:p>
        </c:rich>
      </c:tx>
      <c:layout/>
      <c:overlay val="0"/>
    </c:title>
    <c:autoTitleDeleted val="0"/>
    <c:plotArea>
      <c:layout/>
      <c:lineChart>
        <c:varyColors val="0"/>
        <c:ser>
          <c:idx val="0"/>
          <c:order val="0"/>
          <c:tx>
            <c:strRef>
              <c:f>Sheet1!$B$1</c:f>
              <c:strCache>
                <c:ptCount val="1"/>
                <c:pt idx="0">
                  <c:v>DINOv3 ViT-S + Faster R-CNN</c:v>
                </c:pt>
              </c:strCache>
            </c:strRef>
          </c:tx>
          <c:spPr>
            <a:solidFill>
              <a:srgbClr val="1F6F8B"/>
            </a:solidFill>
            <a:ln w="38100" cap="flat">
              <a:solidFill>
                <a:srgbClr val="1F6F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6F8B"/>
              </a:solidFill>
              <a:ln w="9525" cap="flat">
                <a:solidFill>
                  <a:srgbClr val="1F6F8B"/>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Sheet1!$B$2:$B$41</c:f>
              <c:numCache>
                <c:formatCode>General</c:formatCode>
                <c:ptCount val="40"/>
                <c:pt idx="0">
                  <c:v>0.44937</c:v>
                </c:pt>
                <c:pt idx="1">
                  <c:v>0.5232</c:v>
                </c:pt>
                <c:pt idx="2">
                  <c:v>0.54173</c:v>
                </c:pt>
                <c:pt idx="3">
                  <c:v>0.57711</c:v>
                </c:pt>
                <c:pt idx="4">
                  <c:v>0.59449</c:v>
                </c:pt>
                <c:pt idx="5">
                  <c:v>0.60207</c:v>
                </c:pt>
                <c:pt idx="6">
                  <c:v>0.61651</c:v>
                </c:pt>
                <c:pt idx="7">
                  <c:v>0.62364</c:v>
                </c:pt>
                <c:pt idx="8">
                  <c:v>0.62066</c:v>
                </c:pt>
                <c:pt idx="9">
                  <c:v>0.64034</c:v>
                </c:pt>
                <c:pt idx="10">
                  <c:v>0.64661</c:v>
                </c:pt>
                <c:pt idx="11">
                  <c:v>0.66139</c:v>
                </c:pt>
                <c:pt idx="12">
                  <c:v>0.6711</c:v>
                </c:pt>
                <c:pt idx="13">
                  <c:v>0.66912</c:v>
                </c:pt>
                <c:pt idx="14">
                  <c:v>0.6717</c:v>
                </c:pt>
                <c:pt idx="15">
                  <c:v>0.68062</c:v>
                </c:pt>
                <c:pt idx="16">
                  <c:v>0.68485</c:v>
                </c:pt>
                <c:pt idx="17">
                  <c:v>0.68341</c:v>
                </c:pt>
                <c:pt idx="18">
                  <c:v>0.68731</c:v>
                </c:pt>
                <c:pt idx="19">
                  <c:v>0.69482</c:v>
                </c:pt>
                <c:pt idx="20">
                  <c:v>0.69686</c:v>
                </c:pt>
                <c:pt idx="21">
                  <c:v>0.69754</c:v>
                </c:pt>
                <c:pt idx="22">
                  <c:v>0.70926</c:v>
                </c:pt>
                <c:pt idx="23">
                  <c:v>0.70824</c:v>
                </c:pt>
                <c:pt idx="24">
                  <c:v>0.70976</c:v>
                </c:pt>
                <c:pt idx="25">
                  <c:v>0.71336</c:v>
                </c:pt>
                <c:pt idx="26">
                  <c:v>0.71658</c:v>
                </c:pt>
                <c:pt idx="27">
                  <c:v>0.71666</c:v>
                </c:pt>
                <c:pt idx="28">
                  <c:v>0.7219</c:v>
                </c:pt>
                <c:pt idx="29">
                  <c:v>0.72236</c:v>
                </c:pt>
                <c:pt idx="30">
                  <c:v>0.72276</c:v>
                </c:pt>
                <c:pt idx="31">
                  <c:v>0.72734</c:v>
                </c:pt>
                <c:pt idx="32">
                  <c:v>0.72529</c:v>
                </c:pt>
                <c:pt idx="33">
                  <c:v>0.72813</c:v>
                </c:pt>
                <c:pt idx="34">
                  <c:v>0.72842</c:v>
                </c:pt>
                <c:pt idx="35">
                  <c:v>0.72892</c:v>
                </c:pt>
                <c:pt idx="36">
                  <c:v>0.72881</c:v>
                </c:pt>
                <c:pt idx="37">
                  <c:v>0.7312</c:v>
                </c:pt>
                <c:pt idx="38">
                  <c:v>0.72947</c:v>
                </c:pt>
                <c:pt idx="39">
                  <c:v>0.72967</c:v>
                </c:pt>
              </c:numCache>
            </c:numRef>
          </c:val>
          <c:smooth val="0"/>
        </c:ser>
        <c:ser>
          <c:idx val="1"/>
          <c:order val="1"/>
          <c:tx>
            <c:strRef>
              <c:f>Sheet1!$C$1</c:f>
              <c:strCache>
                <c:ptCount val="1"/>
                <c:pt idx="0">
                  <c:v>MobileNetV3-L + Faster R-CNN</c:v>
                </c:pt>
              </c:strCache>
            </c:strRef>
          </c:tx>
          <c:spPr>
            <a:solidFill>
              <a:srgbClr val="2E7D32"/>
            </a:solidFill>
            <a:ln w="38100" cap="flat">
              <a:solidFill>
                <a:srgbClr val="2E7D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Sheet1!$C$2:$C$41</c:f>
              <c:numCache>
                <c:formatCode>General</c:formatCode>
                <c:ptCount val="40"/>
                <c:pt idx="0">
                  <c:v>0.3705</c:v>
                </c:pt>
                <c:pt idx="1">
                  <c:v>0.45906</c:v>
                </c:pt>
                <c:pt idx="2">
                  <c:v>0.50079</c:v>
                </c:pt>
                <c:pt idx="3">
                  <c:v>0.52168</c:v>
                </c:pt>
                <c:pt idx="4">
                  <c:v>0.53691</c:v>
                </c:pt>
                <c:pt idx="5">
                  <c:v>0.54179</c:v>
                </c:pt>
                <c:pt idx="6">
                  <c:v>0.5766</c:v>
                </c:pt>
                <c:pt idx="7">
                  <c:v>0.57704</c:v>
                </c:pt>
                <c:pt idx="8">
                  <c:v>0.60259</c:v>
                </c:pt>
                <c:pt idx="9">
                  <c:v>0.60464</c:v>
                </c:pt>
                <c:pt idx="10">
                  <c:v>0.60907</c:v>
                </c:pt>
                <c:pt idx="11">
                  <c:v>0.61113</c:v>
                </c:pt>
                <c:pt idx="12">
                  <c:v>0.62596</c:v>
                </c:pt>
                <c:pt idx="13">
                  <c:v>0.63524</c:v>
                </c:pt>
                <c:pt idx="14">
                  <c:v>0.64043</c:v>
                </c:pt>
                <c:pt idx="15">
                  <c:v>0.63811</c:v>
                </c:pt>
                <c:pt idx="16">
                  <c:v>0.64772</c:v>
                </c:pt>
                <c:pt idx="17">
                  <c:v>0.65049</c:v>
                </c:pt>
                <c:pt idx="18">
                  <c:v>0.6537</c:v>
                </c:pt>
                <c:pt idx="19">
                  <c:v>0.65519</c:v>
                </c:pt>
                <c:pt idx="20">
                  <c:v>0.65915</c:v>
                </c:pt>
                <c:pt idx="21">
                  <c:v>0.66191</c:v>
                </c:pt>
                <c:pt idx="22">
                  <c:v>0.67032</c:v>
                </c:pt>
                <c:pt idx="23">
                  <c:v>0.67397</c:v>
                </c:pt>
                <c:pt idx="24">
                  <c:v>0.67947</c:v>
                </c:pt>
                <c:pt idx="25">
                  <c:v>0.67872</c:v>
                </c:pt>
                <c:pt idx="26">
                  <c:v>0.68169</c:v>
                </c:pt>
                <c:pt idx="27">
                  <c:v>0.68994</c:v>
                </c:pt>
                <c:pt idx="28">
                  <c:v>0.68898</c:v>
                </c:pt>
                <c:pt idx="29">
                  <c:v>0.69389</c:v>
                </c:pt>
                <c:pt idx="30">
                  <c:v>0.69259</c:v>
                </c:pt>
                <c:pt idx="31">
                  <c:v>0.69443</c:v>
                </c:pt>
                <c:pt idx="32">
                  <c:v>0.70017</c:v>
                </c:pt>
                <c:pt idx="33">
                  <c:v>0.69804</c:v>
                </c:pt>
                <c:pt idx="34">
                  <c:v>0.70111</c:v>
                </c:pt>
                <c:pt idx="35">
                  <c:v>0.70504</c:v>
                </c:pt>
                <c:pt idx="36">
                  <c:v>0.70313</c:v>
                </c:pt>
                <c:pt idx="37">
                  <c:v>0.70303</c:v>
                </c:pt>
                <c:pt idx="38">
                  <c:v>0.70559</c:v>
                </c:pt>
                <c:pt idx="39">
                  <c:v>0.70404</c:v>
                </c:pt>
              </c:numCache>
            </c:numRef>
          </c:val>
          <c:smooth val="0"/>
        </c:ser>
        <c:ser>
          <c:idx val="2"/>
          <c:order val="2"/>
          <c:tx>
            <c:strRef>
              <c:f>Sheet1!$D$1</c:f>
              <c:strCache>
                <c:ptCount val="1"/>
                <c:pt idx="0">
                  <c:v>ResNet-18 + Faster R-CNN</c:v>
                </c:pt>
              </c:strCache>
            </c:strRef>
          </c:tx>
          <c:spPr>
            <a:solidFill>
              <a:srgbClr val="C62828"/>
            </a:solidFill>
            <a:ln w="38100" cap="flat">
              <a:solidFill>
                <a:srgbClr val="C628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62828"/>
              </a:solidFill>
              <a:ln w="9525" cap="flat">
                <a:solidFill>
                  <a:srgbClr val="C62828"/>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Sheet1!$D$2:$D$41</c:f>
              <c:numCache>
                <c:formatCode>General</c:formatCode>
                <c:ptCount val="40"/>
                <c:pt idx="0">
                  <c:v>0.2553</c:v>
                </c:pt>
                <c:pt idx="1">
                  <c:v>0.31331</c:v>
                </c:pt>
                <c:pt idx="2">
                  <c:v>0.40562</c:v>
                </c:pt>
                <c:pt idx="3">
                  <c:v>0.42513</c:v>
                </c:pt>
                <c:pt idx="4">
                  <c:v>0.45898</c:v>
                </c:pt>
                <c:pt idx="5">
                  <c:v>0.47499</c:v>
                </c:pt>
                <c:pt idx="6">
                  <c:v>0.48045</c:v>
                </c:pt>
                <c:pt idx="7">
                  <c:v>0.49395</c:v>
                </c:pt>
                <c:pt idx="8">
                  <c:v>0.50657</c:v>
                </c:pt>
                <c:pt idx="9">
                  <c:v>0.53325</c:v>
                </c:pt>
                <c:pt idx="10">
                  <c:v>0.53341</c:v>
                </c:pt>
                <c:pt idx="11">
                  <c:v>0.53956</c:v>
                </c:pt>
                <c:pt idx="12">
                  <c:v>0.54846</c:v>
                </c:pt>
                <c:pt idx="13">
                  <c:v>0.55231</c:v>
                </c:pt>
                <c:pt idx="14">
                  <c:v>0.57099</c:v>
                </c:pt>
                <c:pt idx="15">
                  <c:v>0.58098</c:v>
                </c:pt>
                <c:pt idx="16">
                  <c:v>0.58834</c:v>
                </c:pt>
                <c:pt idx="17">
                  <c:v>0.5961</c:v>
                </c:pt>
                <c:pt idx="18">
                  <c:v>0.59731</c:v>
                </c:pt>
                <c:pt idx="19">
                  <c:v>0.59592</c:v>
                </c:pt>
                <c:pt idx="20">
                  <c:v>0.60789</c:v>
                </c:pt>
                <c:pt idx="21">
                  <c:v>0.60888</c:v>
                </c:pt>
                <c:pt idx="22">
                  <c:v>0.61186</c:v>
                </c:pt>
                <c:pt idx="23">
                  <c:v>0.62536</c:v>
                </c:pt>
                <c:pt idx="24">
                  <c:v>0.61761</c:v>
                </c:pt>
                <c:pt idx="25">
                  <c:v>0.62695</c:v>
                </c:pt>
                <c:pt idx="26">
                  <c:v>0.63562</c:v>
                </c:pt>
                <c:pt idx="27">
                  <c:v>0.63907</c:v>
                </c:pt>
                <c:pt idx="28">
                  <c:v>0.63565</c:v>
                </c:pt>
                <c:pt idx="29">
                  <c:v>0.6382</c:v>
                </c:pt>
                <c:pt idx="30">
                  <c:v>0.64648</c:v>
                </c:pt>
                <c:pt idx="31">
                  <c:v>0.64518</c:v>
                </c:pt>
                <c:pt idx="32">
                  <c:v>0.64909</c:v>
                </c:pt>
                <c:pt idx="33">
                  <c:v>0.65042</c:v>
                </c:pt>
                <c:pt idx="34">
                  <c:v>0.65381</c:v>
                </c:pt>
                <c:pt idx="35">
                  <c:v>0.65658</c:v>
                </c:pt>
                <c:pt idx="36">
                  <c:v>0.65384</c:v>
                </c:pt>
                <c:pt idx="37">
                  <c:v>0.65593</c:v>
                </c:pt>
                <c:pt idx="38">
                  <c:v>0.65673</c:v>
                </c:pt>
                <c:pt idx="39">
                  <c:v>0.65656</c:v>
                </c:pt>
              </c:numCache>
            </c:numRef>
          </c:val>
          <c:smooth val="0"/>
        </c:ser>
        <c:ser>
          <c:idx val="3"/>
          <c:order val="3"/>
          <c:tx>
            <c:strRef>
              <c:f>Sheet1!$E$1</c:f>
              <c:strCache>
                <c:ptCount val="1"/>
                <c:pt idx="0">
                  <c:v>DINOv3 ViT-Ti + FCOS</c:v>
                </c:pt>
              </c:strCache>
            </c:strRef>
          </c:tx>
          <c:spPr>
            <a:solidFill>
              <a:srgbClr val="EF6C00"/>
            </a:solidFill>
            <a:ln w="38100" cap="flat">
              <a:solidFill>
                <a:srgbClr val="EF6C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F6C00"/>
              </a:solidFill>
              <a:ln w="9525" cap="flat">
                <a:solidFill>
                  <a:srgbClr val="EF6C00"/>
                </a:solidFill>
                <a:prstDash val="solid"/>
                <a:round/>
              </a:ln>
              <a:effectLst/>
            </c:spPr>
          </c:marker>
          <c:cat>
            <c:multiLvlStrRef>
              <c:f>Sheet1!$A$2:$A$41</c:f>
              <c:multiLvlStrCache>
                <c:ptCount val="4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lvl>
              </c:multiLvlStrCache>
            </c:multiLvlStrRef>
          </c:cat>
          <c:val>
            <c:numRef>
              <c:f>Sheet1!$E$2:$E$41</c:f>
              <c:numCache>
                <c:formatCode>General</c:formatCode>
                <c:ptCount val="40"/>
                <c:pt idx="0">
                  <c:v>0.3117</c:v>
                </c:pt>
                <c:pt idx="1">
                  <c:v>0.37936</c:v>
                </c:pt>
                <c:pt idx="2">
                  <c:v>0.40471</c:v>
                </c:pt>
                <c:pt idx="3">
                  <c:v>0.42441</c:v>
                </c:pt>
                <c:pt idx="4">
                  <c:v>0.45276</c:v>
                </c:pt>
                <c:pt idx="5">
                  <c:v>0.45486</c:v>
                </c:pt>
                <c:pt idx="6">
                  <c:v>0.48607</c:v>
                </c:pt>
                <c:pt idx="7">
                  <c:v>0.4963</c:v>
                </c:pt>
                <c:pt idx="8">
                  <c:v>0.51175</c:v>
                </c:pt>
                <c:pt idx="9">
                  <c:v>0.52592</c:v>
                </c:pt>
                <c:pt idx="10">
                  <c:v>0.51719</c:v>
                </c:pt>
                <c:pt idx="11">
                  <c:v>0.52591</c:v>
                </c:pt>
                <c:pt idx="12">
                  <c:v>0.52629</c:v>
                </c:pt>
                <c:pt idx="13">
                  <c:v>0.54692</c:v>
                </c:pt>
                <c:pt idx="14">
                  <c:v>0.55534</c:v>
                </c:pt>
                <c:pt idx="15">
                  <c:v>0.5432</c:v>
                </c:pt>
                <c:pt idx="16">
                  <c:v>0.55108</c:v>
                </c:pt>
                <c:pt idx="17">
                  <c:v>0.56392</c:v>
                </c:pt>
                <c:pt idx="18">
                  <c:v>0.55062</c:v>
                </c:pt>
                <c:pt idx="19">
                  <c:v>0.5635</c:v>
                </c:pt>
                <c:pt idx="20">
                  <c:v>0.58061</c:v>
                </c:pt>
                <c:pt idx="21">
                  <c:v>0.57153</c:v>
                </c:pt>
                <c:pt idx="22">
                  <c:v>0.58017</c:v>
                </c:pt>
                <c:pt idx="23">
                  <c:v>0.57522</c:v>
                </c:pt>
                <c:pt idx="24">
                  <c:v>0.58023</c:v>
                </c:pt>
                <c:pt idx="25">
                  <c:v>0.58014</c:v>
                </c:pt>
                <c:pt idx="26">
                  <c:v>0.59402</c:v>
                </c:pt>
                <c:pt idx="27">
                  <c:v>0.59215</c:v>
                </c:pt>
                <c:pt idx="28">
                  <c:v>0.60008</c:v>
                </c:pt>
                <c:pt idx="29">
                  <c:v>0.60068</c:v>
                </c:pt>
                <c:pt idx="30">
                  <c:v>0.59914</c:v>
                </c:pt>
                <c:pt idx="31">
                  <c:v>0.60601</c:v>
                </c:pt>
                <c:pt idx="32">
                  <c:v>0.60949</c:v>
                </c:pt>
                <c:pt idx="33">
                  <c:v>0.60935</c:v>
                </c:pt>
                <c:pt idx="34">
                  <c:v>0.61028</c:v>
                </c:pt>
                <c:pt idx="35">
                  <c:v>0.61628</c:v>
                </c:pt>
                <c:pt idx="36">
                  <c:v>0.61784</c:v>
                </c:pt>
                <c:pt idx="37">
                  <c:v>0.61484</c:v>
                </c:pt>
                <c:pt idx="38">
                  <c:v>0.62125</c:v>
                </c:pt>
                <c:pt idx="39">
                  <c:v>0.61957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2"/>
        <c:crosses val="autoZero"/>
        <c:auto val="1"/>
        <c:lblAlgn val="ctr"/>
        <c:noMultiLvlLbl val="1"/>
        <c:tickLblSkip val="5"/>
      </c:catAx>
      <c:valAx>
        <c:axId val="2094734552"/>
        <c:scaling>
          <c:orientation val="minMax"/>
          <c:max val="0.8"/>
          <c:min val="0.2"/>
        </c:scaling>
        <c:delete val="0"/>
        <c:axPos val="l"/>
        <c:majorGridlines>
          <c:spPr>
            <a:ln w="9525" cap="flat">
              <a:solidFill>
                <a:srgbClr val="E3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industrial fire and smoke detector for fixed cameras. Today covers stage 1 only: how we compared the candidate models and why we continue with DINOv3 plus Faster R-CNN.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requirements from the site. The second one drives most decisions: because the system runs 24/7, the false-alarm rate is as important as accuracy. Stage 1 answers one question with measurements: which backbone and which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has a backbone that extracts features, a feature pyramid for different object sizes, a detection head that outputs boxes, and a scene classifier for hidden fire. We compare three backbones and two heads. To keep it fair, everything else is identical. The backbone is frozen in stage 1, so we measure how good each backbone's ready-made features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DINOv3 is a Vision Transformer trained by Meta without labels on 1.689 billion images. MobileNetV3 and ResNet-18 are convolutional networks trained with labels on ImageNet, about 1,300 times fewer images. Parameters shown are for the backbone alone; the detection head adds about 14.5 million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cut into 16 by 16 pixel patches, giving 1,600 tokens. Twelve transformer blocks let every token look at every other token, so each patch is described in the context of the whole image. That global view helps with smoke. The output is a feature map, not boxes, so we build a four-level pyramid from four of the blocks and add a detection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convolutional networks that shrink the image step by step while adding channels, so they produce several scales naturally. MobileNetV3 uses depthwise convolutions to stay cheap. ResNet-18 uses plain 3 by 3 convolutions with skip connections. Each layer sees only a local neighbourhood, unlike the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Faster R-CNN works in two stages: a proposal network suggests about 300 regions, then a box head examines each one. That second look gives well-separated scores. FCOS has no proposals and no anchors: every location predicts a class, a box and a centre-ness value directly. It is simpler and can be batched across cameras, but its scores are 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mAP after each of the 40 epochs. The order DINOv3, MobileNetV3, ResNet-18 holds at every epoch. The three Faster R-CNN models train almost the same number of parameters, so the difference comes from the frozen backbone features. On overfitting: none of the models overfitted. Validation accuracy was still rising at the end for all four, and the best epoch was 38 or 39. The smaller models underfit instead: ResNet-18 ends with the highest training loss, and the FCOS model trains only 1.5 million parameters. Note for questions: DINOv3's numbers were recorded before a test-time speed setting was changed, which costs about 0.005 mAP, so its lead is about half a point smaller than shown. It still leads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alarm system the key number is how many fires are detected while false alarms stay under 1%. DINOv3 and MobileNetV3 both detect about 87%, but DINOv3 does it at 0.37% false alarms against 0.87%. ResNet-18 detects only 68%. On the heads: the FCOS model here also uses a smaller backbone, so its lower accuracy is not due to the head alone. What we measured on the same backbone is speed and export: FCOS is not faster, but it can be exported as one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It is the most accurate. It gives the fewest false alarms for the same detections, which is the central requirement. Its features are the best even without training them. And Faster R-CNN gives clean scores. The cost is speed and export, which concern deployment, so accuracy is settled first and MobileNetV3 and FCOS are kept for a fast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from here. First fine-tune part of the DINOv3 backbone at a low learning rate, which is where overfitting must be watched. Then small and distant fires, hard negatives to push false alarms down, testing on video, a fast version for the 70-camera requirement, and data from the site's own cameras. The full report has the results of every epoch for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21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Fire and smoke detection  |  model selection (stage 1)</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Fire and Smoke Detection: Choosing the Model</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algn="l" indent="0" marL="0">
              <a:buNone/>
            </a:pPr>
            <a:r>
              <a:rPr lang="en-US" sz="2000" dirty="0">
                <a:solidFill>
                  <a:schemeClr val="bg2"/>
                </a:solidFill>
              </a:rPr>
              <a:t>Stage 1: three backbones and two detection heads compared over 40 training epochs</a:t>
            </a:r>
            <a:endParaRPr lang="en-US" sz="20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b="1" dirty="0">
                <a:solidFill>
                  <a:schemeClr val="accent1"/>
                </a:solidFill>
              </a:rPr>
              <a:t>DINOv3   |   MobileNetV3-Large   |   ResNet-18   |   Faster R-CNN   |   FCOS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The problem: fire and smoke on industrial cameras, around the clock</a:t>
            </a:r>
            <a:endParaRPr lang="en-US" sz="3000" dirty="0"/>
          </a:p>
        </p:txBody>
      </p:sp>
      <p:sp>
        <p:nvSpPr>
          <p:cNvPr id="3" name="Shape 1"/>
          <p:cNvSpPr/>
          <p:nvPr/>
        </p:nvSpPr>
        <p:spPr>
          <a:xfrm>
            <a:off x="548640" y="1371600"/>
            <a:ext cx="3520440" cy="1737360"/>
          </a:xfrm>
          <a:prstGeom prst="roundRect">
            <a:avLst>
              <a:gd name="adj" fmla="val 4211"/>
            </a:avLst>
          </a:prstGeom>
          <a:solidFill>
            <a:schemeClr val="bg2"/>
          </a:solidFill>
          <a:ln w="9525">
            <a:solidFill>
              <a:srgbClr val="D5DAE0"/>
            </a:solidFill>
            <a:prstDash val="solid"/>
          </a:ln>
        </p:spPr>
      </p:sp>
      <p:sp>
        <p:nvSpPr>
          <p:cNvPr id="4" name="Shape 2"/>
          <p:cNvSpPr/>
          <p:nvPr/>
        </p:nvSpPr>
        <p:spPr>
          <a:xfrm>
            <a:off x="777240" y="1600200"/>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71600" y="1591056"/>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Poor light, high cameras</a:t>
            </a:r>
            <a:endParaRPr lang="en-US" sz="1800" dirty="0"/>
          </a:p>
        </p:txBody>
      </p:sp>
      <p:sp>
        <p:nvSpPr>
          <p:cNvPr id="7" name="Text 5"/>
          <p:cNvSpPr txBox="1"/>
          <p:nvPr/>
        </p:nvSpPr>
        <p:spPr>
          <a:xfrm>
            <a:off x="777240" y="219456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Cameras are mounted high in dim industrial lighting, with glare and reflections</a:t>
            </a:r>
            <a:endParaRPr lang="en-US" sz="1400" dirty="0"/>
          </a:p>
        </p:txBody>
      </p:sp>
      <p:sp>
        <p:nvSpPr>
          <p:cNvPr id="8" name="Shape 6"/>
          <p:cNvSpPr/>
          <p:nvPr/>
        </p:nvSpPr>
        <p:spPr>
          <a:xfrm>
            <a:off x="4297680" y="1371600"/>
            <a:ext cx="3520440" cy="1737360"/>
          </a:xfrm>
          <a:prstGeom prst="roundRect">
            <a:avLst>
              <a:gd name="adj" fmla="val 4211"/>
            </a:avLst>
          </a:prstGeom>
          <a:solidFill>
            <a:schemeClr val="bg2"/>
          </a:solidFill>
          <a:ln w="9525">
            <a:solidFill>
              <a:srgbClr val="D5DAE0"/>
            </a:solidFill>
            <a:prstDash val="solid"/>
          </a:ln>
        </p:spPr>
      </p:sp>
      <p:sp>
        <p:nvSpPr>
          <p:cNvPr id="9" name="Shape 7"/>
          <p:cNvSpPr/>
          <p:nvPr/>
        </p:nvSpPr>
        <p:spPr>
          <a:xfrm>
            <a:off x="4526280" y="1600200"/>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4526280" y="16002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5120640" y="1591056"/>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Runs 24 hours a day</a:t>
            </a:r>
            <a:endParaRPr lang="en-US" sz="1800" dirty="0"/>
          </a:p>
        </p:txBody>
      </p:sp>
      <p:sp>
        <p:nvSpPr>
          <p:cNvPr id="12" name="Text 10"/>
          <p:cNvSpPr txBox="1"/>
          <p:nvPr/>
        </p:nvSpPr>
        <p:spPr>
          <a:xfrm>
            <a:off x="4526280" y="219456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False alarms must be very rare, or operators stop trusting the system</a:t>
            </a:r>
            <a:endParaRPr lang="en-US" sz="1400" dirty="0"/>
          </a:p>
        </p:txBody>
      </p:sp>
      <p:sp>
        <p:nvSpPr>
          <p:cNvPr id="13" name="Shape 11"/>
          <p:cNvSpPr/>
          <p:nvPr/>
        </p:nvSpPr>
        <p:spPr>
          <a:xfrm>
            <a:off x="8046720" y="1371600"/>
            <a:ext cx="3520440" cy="1737360"/>
          </a:xfrm>
          <a:prstGeom prst="roundRect">
            <a:avLst>
              <a:gd name="adj" fmla="val 4211"/>
            </a:avLst>
          </a:prstGeom>
          <a:solidFill>
            <a:schemeClr val="bg2"/>
          </a:solidFill>
          <a:ln w="9525">
            <a:solidFill>
              <a:srgbClr val="D5DAE0"/>
            </a:solidFill>
            <a:prstDash val="solid"/>
          </a:ln>
        </p:spPr>
      </p:sp>
      <p:sp>
        <p:nvSpPr>
          <p:cNvPr id="14" name="Shape 12"/>
          <p:cNvSpPr/>
          <p:nvPr/>
        </p:nvSpPr>
        <p:spPr>
          <a:xfrm>
            <a:off x="8275320" y="1600200"/>
            <a:ext cx="420624" cy="420624"/>
          </a:xfrm>
          <a:prstGeom prst="ellipse">
            <a:avLst/>
          </a:prstGeom>
          <a:solidFill>
            <a:schemeClr val="accent1"/>
          </a:solidFill>
          <a:ln w="12700">
            <a:solidFill>
              <a:schemeClr val="accent1"/>
            </a:solidFill>
            <a:prstDash val="solid"/>
          </a:ln>
        </p:spPr>
      </p:sp>
      <p:sp>
        <p:nvSpPr>
          <p:cNvPr id="15" name="Text 13"/>
          <p:cNvSpPr txBox="1"/>
          <p:nvPr/>
        </p:nvSpPr>
        <p:spPr>
          <a:xfrm>
            <a:off x="8275320" y="16002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8869680" y="1591056"/>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Fire can be hidden</a:t>
            </a:r>
            <a:endParaRPr lang="en-US" sz="1800" dirty="0"/>
          </a:p>
        </p:txBody>
      </p:sp>
      <p:sp>
        <p:nvSpPr>
          <p:cNvPr id="17" name="Text 15"/>
          <p:cNvSpPr txBox="1"/>
          <p:nvPr/>
        </p:nvSpPr>
        <p:spPr>
          <a:xfrm>
            <a:off x="8275320" y="219456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A flame behind equipment may show only as a glow on nearby surfaces</a:t>
            </a:r>
            <a:endParaRPr lang="en-US" sz="1400" dirty="0"/>
          </a:p>
        </p:txBody>
      </p:sp>
      <p:sp>
        <p:nvSpPr>
          <p:cNvPr id="18" name="Shape 16"/>
          <p:cNvSpPr/>
          <p:nvPr/>
        </p:nvSpPr>
        <p:spPr>
          <a:xfrm>
            <a:off x="548640" y="3337560"/>
            <a:ext cx="3520440" cy="1737360"/>
          </a:xfrm>
          <a:prstGeom prst="roundRect">
            <a:avLst>
              <a:gd name="adj" fmla="val 4211"/>
            </a:avLst>
          </a:prstGeom>
          <a:solidFill>
            <a:schemeClr val="bg2"/>
          </a:solidFill>
          <a:ln w="9525">
            <a:solidFill>
              <a:srgbClr val="D5DAE0"/>
            </a:solidFill>
            <a:prstDash val="solid"/>
          </a:ln>
        </p:spPr>
      </p:sp>
      <p:sp>
        <p:nvSpPr>
          <p:cNvPr id="19" name="Shape 17"/>
          <p:cNvSpPr/>
          <p:nvPr/>
        </p:nvSpPr>
        <p:spPr>
          <a:xfrm>
            <a:off x="777240" y="3566160"/>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777240" y="35661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1371600" y="3557016"/>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Smoke and fire</a:t>
            </a:r>
            <a:endParaRPr lang="en-US" sz="1800" dirty="0"/>
          </a:p>
        </p:txBody>
      </p:sp>
      <p:sp>
        <p:nvSpPr>
          <p:cNvPr id="22" name="Text 20"/>
          <p:cNvSpPr txBox="1"/>
          <p:nvPr/>
        </p:nvSpPr>
        <p:spPr>
          <a:xfrm>
            <a:off x="777240" y="416052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Two classes to detect; smoke has no fixed shape or edge</a:t>
            </a:r>
            <a:endParaRPr lang="en-US" sz="1400" dirty="0"/>
          </a:p>
        </p:txBody>
      </p:sp>
      <p:sp>
        <p:nvSpPr>
          <p:cNvPr id="23" name="Shape 21"/>
          <p:cNvSpPr/>
          <p:nvPr/>
        </p:nvSpPr>
        <p:spPr>
          <a:xfrm>
            <a:off x="4297680" y="3337560"/>
            <a:ext cx="3520440" cy="1737360"/>
          </a:xfrm>
          <a:prstGeom prst="roundRect">
            <a:avLst>
              <a:gd name="adj" fmla="val 4211"/>
            </a:avLst>
          </a:prstGeom>
          <a:solidFill>
            <a:schemeClr val="bg2"/>
          </a:solidFill>
          <a:ln w="9525">
            <a:solidFill>
              <a:srgbClr val="D5DAE0"/>
            </a:solidFill>
            <a:prstDash val="solid"/>
          </a:ln>
        </p:spPr>
      </p:sp>
      <p:sp>
        <p:nvSpPr>
          <p:cNvPr id="24" name="Shape 22"/>
          <p:cNvSpPr/>
          <p:nvPr/>
        </p:nvSpPr>
        <p:spPr>
          <a:xfrm>
            <a:off x="4526280" y="3566160"/>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4526280" y="35661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 24"/>
          <p:cNvSpPr txBox="1"/>
          <p:nvPr/>
        </p:nvSpPr>
        <p:spPr>
          <a:xfrm>
            <a:off x="5120640" y="3557016"/>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Small, distant fires</a:t>
            </a:r>
            <a:endParaRPr lang="en-US" sz="1800" dirty="0"/>
          </a:p>
        </p:txBody>
      </p:sp>
      <p:sp>
        <p:nvSpPr>
          <p:cNvPr id="27" name="Text 25"/>
          <p:cNvSpPr txBox="1"/>
          <p:nvPr/>
        </p:nvSpPr>
        <p:spPr>
          <a:xfrm>
            <a:off x="4526280" y="416052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A fire far from the camera covers only a few pixels</a:t>
            </a:r>
            <a:endParaRPr lang="en-US" sz="1400" dirty="0"/>
          </a:p>
        </p:txBody>
      </p:sp>
      <p:sp>
        <p:nvSpPr>
          <p:cNvPr id="28" name="Shape 26"/>
          <p:cNvSpPr/>
          <p:nvPr/>
        </p:nvSpPr>
        <p:spPr>
          <a:xfrm>
            <a:off x="8046720" y="3337560"/>
            <a:ext cx="3520440" cy="1737360"/>
          </a:xfrm>
          <a:prstGeom prst="roundRect">
            <a:avLst>
              <a:gd name="adj" fmla="val 4211"/>
            </a:avLst>
          </a:prstGeom>
          <a:solidFill>
            <a:schemeClr val="bg2"/>
          </a:solidFill>
          <a:ln w="9525">
            <a:solidFill>
              <a:srgbClr val="D5DAE0"/>
            </a:solidFill>
            <a:prstDash val="solid"/>
          </a:ln>
        </p:spPr>
      </p:sp>
      <p:sp>
        <p:nvSpPr>
          <p:cNvPr id="29" name="Shape 27"/>
          <p:cNvSpPr/>
          <p:nvPr/>
        </p:nvSpPr>
        <p:spPr>
          <a:xfrm>
            <a:off x="8275320" y="3566160"/>
            <a:ext cx="420624" cy="420624"/>
          </a:xfrm>
          <a:prstGeom prst="ellipse">
            <a:avLst/>
          </a:prstGeom>
          <a:solidFill>
            <a:schemeClr val="accent1"/>
          </a:solidFill>
          <a:ln w="12700">
            <a:solidFill>
              <a:schemeClr val="accent1"/>
            </a:solidFill>
            <a:prstDash val="solid"/>
          </a:ln>
        </p:spPr>
      </p:sp>
      <p:sp>
        <p:nvSpPr>
          <p:cNvPr id="30" name="Text 28"/>
          <p:cNvSpPr txBox="1"/>
          <p:nvPr/>
        </p:nvSpPr>
        <p:spPr>
          <a:xfrm>
            <a:off x="8275320" y="35661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Text 29"/>
          <p:cNvSpPr txBox="1"/>
          <p:nvPr/>
        </p:nvSpPr>
        <p:spPr>
          <a:xfrm>
            <a:off x="8869680" y="3557016"/>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About 70 cameras</a:t>
            </a:r>
            <a:endParaRPr lang="en-US" sz="1800" dirty="0"/>
          </a:p>
        </p:txBody>
      </p:sp>
      <p:sp>
        <p:nvSpPr>
          <p:cNvPr id="32" name="Text 30"/>
          <p:cNvSpPr txBox="1"/>
          <p:nvPr/>
        </p:nvSpPr>
        <p:spPr>
          <a:xfrm>
            <a:off x="8275320" y="4160520"/>
            <a:ext cx="3108960" cy="822960"/>
          </a:xfrm>
          <a:prstGeom prst="rect">
            <a:avLst/>
          </a:prstGeom>
          <a:noFill/>
          <a:ln/>
        </p:spPr>
        <p:txBody>
          <a:bodyPr wrap="square" lIns="0" tIns="0" rIns="0" bIns="0" rtlCol="0" anchor="t"/>
          <a:lstStyle/>
          <a:p>
            <a:pPr indent="0" marL="0">
              <a:buNone/>
            </a:pPr>
            <a:r>
              <a:rPr lang="en-US" sz="1400" dirty="0">
                <a:solidFill>
                  <a:schemeClr val="accent6"/>
                </a:solidFill>
              </a:rPr>
              <a:t>At least 10 frames per second overall: speed and size matter too</a:t>
            </a:r>
            <a:endParaRPr lang="en-US" sz="1400" dirty="0"/>
          </a:p>
        </p:txBody>
      </p:sp>
      <p:sp>
        <p:nvSpPr>
          <p:cNvPr id="33" name="Text 31"/>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2000" b="1" dirty="0">
                <a:solidFill>
                  <a:schemeClr val="accent1"/>
                </a:solidFill>
              </a:rPr>
              <a:t>Question for stage 1:  </a:t>
            </a:r>
            <a:pPr indent="0" marL="0">
              <a:buNone/>
            </a:pPr>
            <a:r>
              <a:rPr lang="en-US" sz="2000" dirty="0">
                <a:solidFill>
                  <a:schemeClr val="tx1"/>
                </a:solidFill>
              </a:rPr>
              <a:t>which backbone and which detection head should the detector be built on?</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Approach: one detector, with two parts to choose</a:t>
            </a:r>
            <a:endParaRPr lang="en-US" sz="3000" dirty="0"/>
          </a:p>
        </p:txBody>
      </p:sp>
      <p:pic>
        <p:nvPicPr>
          <p:cNvPr id="3" name="Image 0" descr="C:\Users\BIT\Desktop\fire and smoke\reports\figures\s1_pipeline.png">    </p:cNvPr>
          <p:cNvPicPr>
            <a:picLocks noChangeAspect="1"/>
          </p:cNvPicPr>
          <p:nvPr/>
        </p:nvPicPr>
        <p:blipFill>
          <a:blip r:embed="rId1"/>
          <a:srcRect l="0" r="0" t="0" b="0"/>
          <a:stretch/>
        </p:blipFill>
        <p:spPr>
          <a:xfrm>
            <a:off x="548640" y="1188720"/>
            <a:ext cx="11064240" cy="3749040"/>
          </a:xfrm>
          <a:prstGeom prst="rect">
            <a:avLst/>
          </a:prstGeom>
        </p:spPr>
      </p:pic>
      <p:sp>
        <p:nvSpPr>
          <p:cNvPr id="4" name="Shape 1"/>
          <p:cNvSpPr/>
          <p:nvPr/>
        </p:nvSpPr>
        <p:spPr>
          <a:xfrm>
            <a:off x="548640" y="5074920"/>
            <a:ext cx="3520440" cy="1143000"/>
          </a:xfrm>
          <a:prstGeom prst="roundRect">
            <a:avLst>
              <a:gd name="adj" fmla="val 6400"/>
            </a:avLst>
          </a:prstGeom>
          <a:solidFill>
            <a:schemeClr val="bg2"/>
          </a:solidFill>
          <a:ln w="9525">
            <a:solidFill>
              <a:srgbClr val="D5DAE0"/>
            </a:solidFill>
            <a:prstDash val="solid"/>
          </a:ln>
        </p:spPr>
      </p:sp>
      <p:sp>
        <p:nvSpPr>
          <p:cNvPr id="5" name="Text 2"/>
          <p:cNvSpPr txBox="1"/>
          <p:nvPr/>
        </p:nvSpPr>
        <p:spPr>
          <a:xfrm>
            <a:off x="777240" y="5138928"/>
            <a:ext cx="3108960" cy="365760"/>
          </a:xfrm>
          <a:prstGeom prst="rect">
            <a:avLst/>
          </a:prstGeom>
          <a:noFill/>
          <a:ln/>
        </p:spPr>
        <p:txBody>
          <a:bodyPr wrap="square" lIns="0" tIns="0" rIns="0" bIns="0" rtlCol="0" anchor="ctr"/>
          <a:lstStyle/>
          <a:p>
            <a:pPr indent="0" marL="0">
              <a:buNone/>
            </a:pPr>
            <a:r>
              <a:rPr lang="en-US" sz="1600" b="1" dirty="0">
                <a:solidFill>
                  <a:schemeClr val="accent1"/>
                </a:solidFill>
              </a:rPr>
              <a:t>Same data</a:t>
            </a:r>
            <a:endParaRPr lang="en-US" sz="1600" dirty="0"/>
          </a:p>
        </p:txBody>
      </p:sp>
      <p:sp>
        <p:nvSpPr>
          <p:cNvPr id="6" name="Text 3"/>
          <p:cNvSpPr txBox="1"/>
          <p:nvPr/>
        </p:nvSpPr>
        <p:spPr>
          <a:xfrm>
            <a:off x="777240" y="5504688"/>
            <a:ext cx="3108960" cy="685800"/>
          </a:xfrm>
          <a:prstGeom prst="rect">
            <a:avLst/>
          </a:prstGeom>
          <a:noFill/>
          <a:ln/>
        </p:spPr>
        <p:txBody>
          <a:bodyPr wrap="square" lIns="0" tIns="0" rIns="0" bIns="0" rtlCol="0" anchor="t"/>
          <a:lstStyle/>
          <a:p>
            <a:pPr indent="0" marL="0">
              <a:buNone/>
            </a:pPr>
            <a:r>
              <a:rPr lang="en-US" sz="1200" dirty="0">
                <a:solidFill>
                  <a:schemeClr val="tx1"/>
                </a:solidFill>
              </a:rPr>
              <a:t>D-Fire: 13,776 training, 3,445 validation and 4,306 test images; 45% contain no fire or smoke</a:t>
            </a:r>
            <a:endParaRPr lang="en-US" sz="1200" dirty="0"/>
          </a:p>
        </p:txBody>
      </p:sp>
      <p:sp>
        <p:nvSpPr>
          <p:cNvPr id="7" name="Shape 4"/>
          <p:cNvSpPr/>
          <p:nvPr/>
        </p:nvSpPr>
        <p:spPr>
          <a:xfrm>
            <a:off x="4297680" y="5074920"/>
            <a:ext cx="3520440" cy="1143000"/>
          </a:xfrm>
          <a:prstGeom prst="roundRect">
            <a:avLst>
              <a:gd name="adj" fmla="val 6400"/>
            </a:avLst>
          </a:prstGeom>
          <a:solidFill>
            <a:schemeClr val="bg2"/>
          </a:solidFill>
          <a:ln w="9525">
            <a:solidFill>
              <a:srgbClr val="D5DAE0"/>
            </a:solidFill>
            <a:prstDash val="solid"/>
          </a:ln>
        </p:spPr>
      </p:sp>
      <p:sp>
        <p:nvSpPr>
          <p:cNvPr id="8" name="Text 5"/>
          <p:cNvSpPr txBox="1"/>
          <p:nvPr/>
        </p:nvSpPr>
        <p:spPr>
          <a:xfrm>
            <a:off x="4526280" y="5138928"/>
            <a:ext cx="3108960" cy="365760"/>
          </a:xfrm>
          <a:prstGeom prst="rect">
            <a:avLst/>
          </a:prstGeom>
          <a:noFill/>
          <a:ln/>
        </p:spPr>
        <p:txBody>
          <a:bodyPr wrap="square" lIns="0" tIns="0" rIns="0" bIns="0" rtlCol="0" anchor="ctr"/>
          <a:lstStyle/>
          <a:p>
            <a:pPr indent="0" marL="0">
              <a:buNone/>
            </a:pPr>
            <a:r>
              <a:rPr lang="en-US" sz="1600" b="1" dirty="0">
                <a:solidFill>
                  <a:schemeClr val="accent1"/>
                </a:solidFill>
              </a:rPr>
              <a:t>Same training</a:t>
            </a:r>
            <a:endParaRPr lang="en-US" sz="1600" dirty="0"/>
          </a:p>
        </p:txBody>
      </p:sp>
      <p:sp>
        <p:nvSpPr>
          <p:cNvPr id="9" name="Text 6"/>
          <p:cNvSpPr txBox="1"/>
          <p:nvPr/>
        </p:nvSpPr>
        <p:spPr>
          <a:xfrm>
            <a:off x="4526280" y="5504688"/>
            <a:ext cx="3108960" cy="685800"/>
          </a:xfrm>
          <a:prstGeom prst="rect">
            <a:avLst/>
          </a:prstGeom>
          <a:noFill/>
          <a:ln/>
        </p:spPr>
        <p:txBody>
          <a:bodyPr wrap="square" lIns="0" tIns="0" rIns="0" bIns="0" rtlCol="0" anchor="t"/>
          <a:lstStyle/>
          <a:p>
            <a:pPr indent="0" marL="0">
              <a:buNone/>
            </a:pPr>
            <a:r>
              <a:rPr lang="en-US" sz="1200" dirty="0">
                <a:solidFill>
                  <a:schemeClr val="tx1"/>
                </a:solidFill>
              </a:rPr>
              <a:t>40 epochs, AdamW, learning rate 1e-4, batch 8, same augmentation; backbone frozen</a:t>
            </a:r>
            <a:endParaRPr lang="en-US" sz="1200" dirty="0"/>
          </a:p>
        </p:txBody>
      </p:sp>
      <p:sp>
        <p:nvSpPr>
          <p:cNvPr id="10" name="Shape 7"/>
          <p:cNvSpPr/>
          <p:nvPr/>
        </p:nvSpPr>
        <p:spPr>
          <a:xfrm>
            <a:off x="8046720" y="5074920"/>
            <a:ext cx="3520440" cy="1143000"/>
          </a:xfrm>
          <a:prstGeom prst="roundRect">
            <a:avLst>
              <a:gd name="adj" fmla="val 6400"/>
            </a:avLst>
          </a:prstGeom>
          <a:solidFill>
            <a:schemeClr val="bg2"/>
          </a:solidFill>
          <a:ln w="9525">
            <a:solidFill>
              <a:srgbClr val="D5DAE0"/>
            </a:solidFill>
            <a:prstDash val="solid"/>
          </a:ln>
        </p:spPr>
      </p:sp>
      <p:sp>
        <p:nvSpPr>
          <p:cNvPr id="11" name="Text 8"/>
          <p:cNvSpPr txBox="1"/>
          <p:nvPr/>
        </p:nvSpPr>
        <p:spPr>
          <a:xfrm>
            <a:off x="8275320" y="5138928"/>
            <a:ext cx="3108960" cy="365760"/>
          </a:xfrm>
          <a:prstGeom prst="rect">
            <a:avLst/>
          </a:prstGeom>
          <a:noFill/>
          <a:ln/>
        </p:spPr>
        <p:txBody>
          <a:bodyPr wrap="square" lIns="0" tIns="0" rIns="0" bIns="0" rtlCol="0" anchor="ctr"/>
          <a:lstStyle/>
          <a:p>
            <a:pPr indent="0" marL="0">
              <a:buNone/>
            </a:pPr>
            <a:r>
              <a:rPr lang="en-US" sz="1600" b="1" dirty="0">
                <a:solidFill>
                  <a:schemeClr val="accent1"/>
                </a:solidFill>
              </a:rPr>
              <a:t>Same measures</a:t>
            </a:r>
            <a:endParaRPr lang="en-US" sz="1600" dirty="0"/>
          </a:p>
        </p:txBody>
      </p:sp>
      <p:sp>
        <p:nvSpPr>
          <p:cNvPr id="12" name="Text 9"/>
          <p:cNvSpPr txBox="1"/>
          <p:nvPr/>
        </p:nvSpPr>
        <p:spPr>
          <a:xfrm>
            <a:off x="8275320" y="5504688"/>
            <a:ext cx="3108960" cy="685800"/>
          </a:xfrm>
          <a:prstGeom prst="rect">
            <a:avLst/>
          </a:prstGeom>
          <a:noFill/>
          <a:ln/>
        </p:spPr>
        <p:txBody>
          <a:bodyPr wrap="square" lIns="0" tIns="0" rIns="0" bIns="0" rtlCol="0" anchor="t"/>
          <a:lstStyle/>
          <a:p>
            <a:pPr indent="0" marL="0">
              <a:buNone/>
            </a:pPr>
            <a:r>
              <a:rPr lang="en-US" sz="1200" dirty="0">
                <a:solidFill>
                  <a:schemeClr val="tx1"/>
                </a:solidFill>
              </a:rPr>
              <a:t>After every epoch: mAP@0.5, and detections at no more than 1% false alarms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Three backbone candidates</a:t>
            </a:r>
            <a:endParaRPr lang="en-US" sz="3000" dirty="0"/>
          </a:p>
        </p:txBody>
      </p:sp>
      <p:sp>
        <p:nvSpPr>
          <p:cNvPr id="3" name="Shape 1"/>
          <p:cNvSpPr/>
          <p:nvPr/>
        </p:nvSpPr>
        <p:spPr>
          <a:xfrm>
            <a:off x="548640" y="1280160"/>
            <a:ext cx="3520440" cy="4892040"/>
          </a:xfrm>
          <a:prstGeom prst="roundRect">
            <a:avLst>
              <a:gd name="adj" fmla="val 2078"/>
            </a:avLst>
          </a:prstGeom>
          <a:solidFill>
            <a:schemeClr val="bg2"/>
          </a:solidFill>
          <a:ln w="9525">
            <a:solidFill>
              <a:srgbClr val="D5DAE0"/>
            </a:solidFill>
            <a:prstDash val="solid"/>
          </a:ln>
        </p:spPr>
      </p:sp>
      <p:sp>
        <p:nvSpPr>
          <p:cNvPr id="4" name="Shape 2"/>
          <p:cNvSpPr/>
          <p:nvPr/>
        </p:nvSpPr>
        <p:spPr>
          <a:xfrm>
            <a:off x="777240" y="1481328"/>
            <a:ext cx="274320" cy="274320"/>
          </a:xfrm>
          <a:prstGeom prst="ellipse">
            <a:avLst/>
          </a:prstGeom>
          <a:solidFill>
            <a:schemeClr val="accent2"/>
          </a:solidFill>
          <a:ln w="12700">
            <a:solidFill>
              <a:srgbClr val="1F6F8B"/>
            </a:solidFill>
            <a:prstDash val="solid"/>
          </a:ln>
        </p:spPr>
      </p:sp>
      <p:sp>
        <p:nvSpPr>
          <p:cNvPr id="5" name="Text 3"/>
          <p:cNvSpPr txBox="1"/>
          <p:nvPr/>
        </p:nvSpPr>
        <p:spPr>
          <a:xfrm>
            <a:off x="1170432" y="1417320"/>
            <a:ext cx="2743200" cy="411480"/>
          </a:xfrm>
          <a:prstGeom prst="rect">
            <a:avLst/>
          </a:prstGeom>
          <a:noFill/>
          <a:ln/>
        </p:spPr>
        <p:txBody>
          <a:bodyPr wrap="square" lIns="0" tIns="0" rIns="0" bIns="0" rtlCol="0" anchor="ctr"/>
          <a:lstStyle/>
          <a:p>
            <a:pPr indent="0" marL="0">
              <a:buNone/>
            </a:pPr>
            <a:r>
              <a:rPr lang="en-US" sz="2000" b="1" dirty="0">
                <a:solidFill>
                  <a:schemeClr val="tx1"/>
                </a:solidFill>
              </a:rPr>
              <a:t>DINOv3 ViT-S/16</a:t>
            </a:r>
            <a:endParaRPr lang="en-US" sz="2000" dirty="0"/>
          </a:p>
        </p:txBody>
      </p:sp>
      <p:sp>
        <p:nvSpPr>
          <p:cNvPr id="6" name="Text 4"/>
          <p:cNvSpPr txBox="1"/>
          <p:nvPr/>
        </p:nvSpPr>
        <p:spPr>
          <a:xfrm>
            <a:off x="777240" y="1901952"/>
            <a:ext cx="3108960" cy="502920"/>
          </a:xfrm>
          <a:prstGeom prst="rect">
            <a:avLst/>
          </a:prstGeom>
          <a:noFill/>
          <a:ln/>
        </p:spPr>
        <p:txBody>
          <a:bodyPr wrap="square" lIns="0" tIns="0" rIns="0" bIns="0" rtlCol="0" anchor="t"/>
          <a:lstStyle/>
          <a:p>
            <a:pPr indent="0" marL="0">
              <a:buNone/>
            </a:pPr>
            <a:r>
              <a:rPr lang="en-US" sz="1300" dirty="0">
                <a:solidFill>
                  <a:schemeClr val="accent6"/>
                </a:solidFill>
              </a:rPr>
              <a:t>Vision Transformer</a:t>
            </a:r>
            <a:endParaRPr lang="en-US" sz="1300" dirty="0"/>
          </a:p>
        </p:txBody>
      </p:sp>
      <p:sp>
        <p:nvSpPr>
          <p:cNvPr id="7" name="Text 5"/>
          <p:cNvSpPr txBox="1"/>
          <p:nvPr/>
        </p:nvSpPr>
        <p:spPr>
          <a:xfrm>
            <a:off x="777240" y="2423160"/>
            <a:ext cx="3108960" cy="731520"/>
          </a:xfrm>
          <a:prstGeom prst="rect">
            <a:avLst/>
          </a:prstGeom>
          <a:noFill/>
          <a:ln/>
        </p:spPr>
        <p:txBody>
          <a:bodyPr wrap="square" lIns="0" tIns="0" rIns="0" bIns="0" rtlCol="0" anchor="ctr"/>
          <a:lstStyle/>
          <a:p>
            <a:pPr indent="0" marL="0">
              <a:buNone/>
            </a:pPr>
            <a:r>
              <a:rPr lang="en-US" sz="4400" b="1" dirty="0">
                <a:solidFill>
                  <a:schemeClr val="accent2"/>
                </a:solidFill>
              </a:rPr>
              <a:t>21.6M</a:t>
            </a:r>
            <a:endParaRPr lang="en-US" sz="4400" dirty="0"/>
          </a:p>
        </p:txBody>
      </p:sp>
      <p:sp>
        <p:nvSpPr>
          <p:cNvPr id="8" name="Text 6"/>
          <p:cNvSpPr txBox="1"/>
          <p:nvPr/>
        </p:nvSpPr>
        <p:spPr>
          <a:xfrm>
            <a:off x="777240" y="3127248"/>
            <a:ext cx="3108960" cy="274320"/>
          </a:xfrm>
          <a:prstGeom prst="rect">
            <a:avLst/>
          </a:prstGeom>
          <a:noFill/>
          <a:ln/>
        </p:spPr>
        <p:txBody>
          <a:bodyPr wrap="square" lIns="0" tIns="0" rIns="0" bIns="0" rtlCol="0" anchor="t"/>
          <a:lstStyle/>
          <a:p>
            <a:pPr indent="0" marL="0">
              <a:buNone/>
            </a:pPr>
            <a:r>
              <a:rPr lang="en-US" sz="1200" dirty="0">
                <a:solidFill>
                  <a:schemeClr val="accent6"/>
                </a:solidFill>
              </a:rPr>
              <a:t>backbone parameters</a:t>
            </a:r>
            <a:endParaRPr lang="en-US" sz="1200" dirty="0"/>
          </a:p>
        </p:txBody>
      </p:sp>
      <p:sp>
        <p:nvSpPr>
          <p:cNvPr id="9" name="Text 7"/>
          <p:cNvSpPr txBox="1"/>
          <p:nvPr/>
        </p:nvSpPr>
        <p:spPr>
          <a:xfrm>
            <a:off x="777240" y="3566160"/>
            <a:ext cx="3108960" cy="502920"/>
          </a:xfrm>
          <a:prstGeom prst="rect">
            <a:avLst/>
          </a:prstGeom>
          <a:noFill/>
          <a:ln/>
        </p:spPr>
        <p:txBody>
          <a:bodyPr wrap="square" lIns="0" tIns="0" rIns="0" bIns="0" rtlCol="0" anchor="t"/>
          <a:lstStyle/>
          <a:p>
            <a:pPr indent="0" marL="0">
              <a:buNone/>
            </a:pPr>
            <a:r>
              <a:rPr lang="en-US" sz="1300" b="1" dirty="0">
                <a:solidFill>
                  <a:schemeClr val="tx1"/>
                </a:solidFill>
              </a:rPr>
              <a:t>Structure  </a:t>
            </a:r>
            <a:pPr indent="0" marL="0">
              <a:buNone/>
            </a:pPr>
            <a:r>
              <a:rPr lang="en-US" sz="1300" dirty="0">
                <a:solidFill>
                  <a:schemeClr val="tx1"/>
                </a:solidFill>
              </a:rPr>
              <a:t>12 transformer blocks</a:t>
            </a:r>
            <a:endParaRPr lang="en-US" sz="1300" dirty="0"/>
          </a:p>
        </p:txBody>
      </p:sp>
      <p:sp>
        <p:nvSpPr>
          <p:cNvPr id="10" name="Text 8"/>
          <p:cNvSpPr txBox="1"/>
          <p:nvPr/>
        </p:nvSpPr>
        <p:spPr>
          <a:xfrm>
            <a:off x="777240" y="4114800"/>
            <a:ext cx="3108960" cy="548640"/>
          </a:xfrm>
          <a:prstGeom prst="rect">
            <a:avLst/>
          </a:prstGeom>
          <a:noFill/>
          <a:ln/>
        </p:spPr>
        <p:txBody>
          <a:bodyPr wrap="square" lIns="0" tIns="0" rIns="0" bIns="0" rtlCol="0" anchor="t"/>
          <a:lstStyle/>
          <a:p>
            <a:pPr indent="0" marL="0">
              <a:buNone/>
            </a:pPr>
            <a:r>
              <a:rPr lang="en-US" sz="1300" b="1" dirty="0">
                <a:solidFill>
                  <a:schemeClr val="tx1"/>
                </a:solidFill>
              </a:rPr>
              <a:t>Pretraining  </a:t>
            </a:r>
            <a:pPr indent="0" marL="0">
              <a:buNone/>
            </a:pPr>
            <a:r>
              <a:rPr lang="en-US" sz="1300" dirty="0">
                <a:solidFill>
                  <a:schemeClr val="tx1"/>
                </a:solidFill>
              </a:rPr>
              <a:t>Self-supervised, no labels, 1.689 billion images</a:t>
            </a:r>
            <a:endParaRPr lang="en-US" sz="1300" dirty="0"/>
          </a:p>
        </p:txBody>
      </p:sp>
      <p:sp>
        <p:nvSpPr>
          <p:cNvPr id="11" name="Text 9"/>
          <p:cNvSpPr txBox="1"/>
          <p:nvPr/>
        </p:nvSpPr>
        <p:spPr>
          <a:xfrm>
            <a:off x="777240" y="4846320"/>
            <a:ext cx="3108960" cy="548640"/>
          </a:xfrm>
          <a:prstGeom prst="rect">
            <a:avLst/>
          </a:prstGeom>
          <a:noFill/>
          <a:ln/>
        </p:spPr>
        <p:txBody>
          <a:bodyPr wrap="square" lIns="0" tIns="0" rIns="0" bIns="0" rtlCol="0" anchor="t"/>
          <a:lstStyle/>
          <a:p>
            <a:pPr indent="0" marL="0">
              <a:buNone/>
            </a:pPr>
            <a:r>
              <a:rPr lang="en-US" sz="1300" b="1" dirty="0">
                <a:solidFill>
                  <a:schemeClr val="accent3"/>
                </a:solidFill>
              </a:rPr>
              <a:t>+  </a:t>
            </a:r>
            <a:pPr indent="0" marL="0">
              <a:buNone/>
            </a:pPr>
            <a:r>
              <a:rPr lang="en-US" sz="1300" dirty="0">
                <a:solidFill>
                  <a:schemeClr val="tx1"/>
                </a:solidFill>
              </a:rPr>
              <a:t>Strongest general features; sees the whole image</a:t>
            </a:r>
            <a:endParaRPr lang="en-US" sz="1300" dirty="0"/>
          </a:p>
        </p:txBody>
      </p:sp>
      <p:sp>
        <p:nvSpPr>
          <p:cNvPr id="12" name="Text 10"/>
          <p:cNvSpPr txBox="1"/>
          <p:nvPr/>
        </p:nvSpPr>
        <p:spPr>
          <a:xfrm>
            <a:off x="777240" y="5440680"/>
            <a:ext cx="3108960" cy="548640"/>
          </a:xfrm>
          <a:prstGeom prst="rect">
            <a:avLst/>
          </a:prstGeom>
          <a:noFill/>
          <a:ln/>
        </p:spPr>
        <p:txBody>
          <a:bodyPr wrap="square" lIns="0" tIns="0" rIns="0" bIns="0" rtlCol="0" anchor="t"/>
          <a:lstStyle/>
          <a:p>
            <a:pPr indent="0" marL="0">
              <a:buNone/>
            </a:pPr>
            <a:r>
              <a:rPr lang="en-US" sz="1300" b="1" dirty="0">
                <a:solidFill>
                  <a:schemeClr val="accent4"/>
                </a:solidFill>
              </a:rPr>
              <a:t>-  </a:t>
            </a:r>
            <a:pPr indent="0" marL="0">
              <a:buNone/>
            </a:pPr>
            <a:r>
              <a:rPr lang="en-US" sz="1300" dirty="0">
                <a:solidFill>
                  <a:schemeClr val="tx1"/>
                </a:solidFill>
              </a:rPr>
              <a:t>Slowest; needs a pyramid built on top</a:t>
            </a:r>
            <a:endParaRPr lang="en-US" sz="1300" dirty="0"/>
          </a:p>
        </p:txBody>
      </p:sp>
      <p:sp>
        <p:nvSpPr>
          <p:cNvPr id="13" name="Shape 11"/>
          <p:cNvSpPr/>
          <p:nvPr/>
        </p:nvSpPr>
        <p:spPr>
          <a:xfrm>
            <a:off x="4297680" y="1280160"/>
            <a:ext cx="3520440" cy="4892040"/>
          </a:xfrm>
          <a:prstGeom prst="roundRect">
            <a:avLst>
              <a:gd name="adj" fmla="val 2078"/>
            </a:avLst>
          </a:prstGeom>
          <a:solidFill>
            <a:schemeClr val="bg2"/>
          </a:solidFill>
          <a:ln w="9525">
            <a:solidFill>
              <a:srgbClr val="D5DAE0"/>
            </a:solidFill>
            <a:prstDash val="solid"/>
          </a:ln>
        </p:spPr>
      </p:sp>
      <p:sp>
        <p:nvSpPr>
          <p:cNvPr id="14" name="Shape 12"/>
          <p:cNvSpPr/>
          <p:nvPr/>
        </p:nvSpPr>
        <p:spPr>
          <a:xfrm>
            <a:off x="4526280" y="1481328"/>
            <a:ext cx="274320" cy="274320"/>
          </a:xfrm>
          <a:prstGeom prst="ellipse">
            <a:avLst/>
          </a:prstGeom>
          <a:solidFill>
            <a:schemeClr val="accent3"/>
          </a:solidFill>
          <a:ln w="12700">
            <a:solidFill>
              <a:srgbClr val="2E7D32"/>
            </a:solidFill>
            <a:prstDash val="solid"/>
          </a:ln>
        </p:spPr>
      </p:sp>
      <p:sp>
        <p:nvSpPr>
          <p:cNvPr id="15" name="Text 13"/>
          <p:cNvSpPr txBox="1"/>
          <p:nvPr/>
        </p:nvSpPr>
        <p:spPr>
          <a:xfrm>
            <a:off x="4919472" y="1417320"/>
            <a:ext cx="2743200" cy="411480"/>
          </a:xfrm>
          <a:prstGeom prst="rect">
            <a:avLst/>
          </a:prstGeom>
          <a:noFill/>
          <a:ln/>
        </p:spPr>
        <p:txBody>
          <a:bodyPr wrap="square" lIns="0" tIns="0" rIns="0" bIns="0" rtlCol="0" anchor="ctr"/>
          <a:lstStyle/>
          <a:p>
            <a:pPr indent="0" marL="0">
              <a:buNone/>
            </a:pPr>
            <a:r>
              <a:rPr lang="en-US" sz="2000" b="1" dirty="0">
                <a:solidFill>
                  <a:schemeClr val="tx1"/>
                </a:solidFill>
              </a:rPr>
              <a:t>MobileNetV3-Large</a:t>
            </a:r>
            <a:endParaRPr lang="en-US" sz="2000" dirty="0"/>
          </a:p>
        </p:txBody>
      </p:sp>
      <p:sp>
        <p:nvSpPr>
          <p:cNvPr id="16" name="Text 14"/>
          <p:cNvSpPr txBox="1"/>
          <p:nvPr/>
        </p:nvSpPr>
        <p:spPr>
          <a:xfrm>
            <a:off x="4526280" y="1901952"/>
            <a:ext cx="3108960" cy="502920"/>
          </a:xfrm>
          <a:prstGeom prst="rect">
            <a:avLst/>
          </a:prstGeom>
          <a:noFill/>
          <a:ln/>
        </p:spPr>
        <p:txBody>
          <a:bodyPr wrap="square" lIns="0" tIns="0" rIns="0" bIns="0" rtlCol="0" anchor="t"/>
          <a:lstStyle/>
          <a:p>
            <a:pPr indent="0" marL="0">
              <a:buNone/>
            </a:pPr>
            <a:r>
              <a:rPr lang="en-US" sz="1300" dirty="0">
                <a:solidFill>
                  <a:schemeClr val="accent6"/>
                </a:solidFill>
              </a:rPr>
              <a:t>Convolutional network for mobile devices</a:t>
            </a:r>
            <a:endParaRPr lang="en-US" sz="1300" dirty="0"/>
          </a:p>
        </p:txBody>
      </p:sp>
      <p:sp>
        <p:nvSpPr>
          <p:cNvPr id="17" name="Text 15"/>
          <p:cNvSpPr txBox="1"/>
          <p:nvPr/>
        </p:nvSpPr>
        <p:spPr>
          <a:xfrm>
            <a:off x="4526280" y="2423160"/>
            <a:ext cx="3108960" cy="731520"/>
          </a:xfrm>
          <a:prstGeom prst="rect">
            <a:avLst/>
          </a:prstGeom>
          <a:noFill/>
          <a:ln/>
        </p:spPr>
        <p:txBody>
          <a:bodyPr wrap="square" lIns="0" tIns="0" rIns="0" bIns="0" rtlCol="0" anchor="ctr"/>
          <a:lstStyle/>
          <a:p>
            <a:pPr indent="0" marL="0">
              <a:buNone/>
            </a:pPr>
            <a:r>
              <a:rPr lang="en-US" sz="4400" b="1" dirty="0">
                <a:solidFill>
                  <a:schemeClr val="accent3"/>
                </a:solidFill>
              </a:rPr>
              <a:t>2.95M</a:t>
            </a:r>
            <a:endParaRPr lang="en-US" sz="4400" dirty="0"/>
          </a:p>
        </p:txBody>
      </p:sp>
      <p:sp>
        <p:nvSpPr>
          <p:cNvPr id="18" name="Text 16"/>
          <p:cNvSpPr txBox="1"/>
          <p:nvPr/>
        </p:nvSpPr>
        <p:spPr>
          <a:xfrm>
            <a:off x="4526280" y="3127248"/>
            <a:ext cx="3108960" cy="274320"/>
          </a:xfrm>
          <a:prstGeom prst="rect">
            <a:avLst/>
          </a:prstGeom>
          <a:noFill/>
          <a:ln/>
        </p:spPr>
        <p:txBody>
          <a:bodyPr wrap="square" lIns="0" tIns="0" rIns="0" bIns="0" rtlCol="0" anchor="t"/>
          <a:lstStyle/>
          <a:p>
            <a:pPr indent="0" marL="0">
              <a:buNone/>
            </a:pPr>
            <a:r>
              <a:rPr lang="en-US" sz="1200" dirty="0">
                <a:solidFill>
                  <a:schemeClr val="accent6"/>
                </a:solidFill>
              </a:rPr>
              <a:t>backbone parameters</a:t>
            </a:r>
            <a:endParaRPr lang="en-US" sz="1200" dirty="0"/>
          </a:p>
        </p:txBody>
      </p:sp>
      <p:sp>
        <p:nvSpPr>
          <p:cNvPr id="19" name="Text 17"/>
          <p:cNvSpPr txBox="1"/>
          <p:nvPr/>
        </p:nvSpPr>
        <p:spPr>
          <a:xfrm>
            <a:off x="4526280" y="3566160"/>
            <a:ext cx="3108960" cy="502920"/>
          </a:xfrm>
          <a:prstGeom prst="rect">
            <a:avLst/>
          </a:prstGeom>
          <a:noFill/>
          <a:ln/>
        </p:spPr>
        <p:txBody>
          <a:bodyPr wrap="square" lIns="0" tIns="0" rIns="0" bIns="0" rtlCol="0" anchor="t"/>
          <a:lstStyle/>
          <a:p>
            <a:pPr indent="0" marL="0">
              <a:buNone/>
            </a:pPr>
            <a:r>
              <a:rPr lang="en-US" sz="1300" b="1" dirty="0">
                <a:solidFill>
                  <a:schemeClr val="tx1"/>
                </a:solidFill>
              </a:rPr>
              <a:t>Structure  </a:t>
            </a:r>
            <a:pPr indent="0" marL="0">
              <a:buNone/>
            </a:pPr>
            <a:r>
              <a:rPr lang="en-US" sz="1300" dirty="0">
                <a:solidFill>
                  <a:schemeClr val="tx1"/>
                </a:solidFill>
              </a:rPr>
              <a:t>15 inverted-residual blocks</a:t>
            </a:r>
            <a:endParaRPr lang="en-US" sz="1300" dirty="0"/>
          </a:p>
        </p:txBody>
      </p:sp>
      <p:sp>
        <p:nvSpPr>
          <p:cNvPr id="20" name="Text 18"/>
          <p:cNvSpPr txBox="1"/>
          <p:nvPr/>
        </p:nvSpPr>
        <p:spPr>
          <a:xfrm>
            <a:off x="4526280" y="4114800"/>
            <a:ext cx="3108960" cy="548640"/>
          </a:xfrm>
          <a:prstGeom prst="rect">
            <a:avLst/>
          </a:prstGeom>
          <a:noFill/>
          <a:ln/>
        </p:spPr>
        <p:txBody>
          <a:bodyPr wrap="square" lIns="0" tIns="0" rIns="0" bIns="0" rtlCol="0" anchor="t"/>
          <a:lstStyle/>
          <a:p>
            <a:pPr indent="0" marL="0">
              <a:buNone/>
            </a:pPr>
            <a:r>
              <a:rPr lang="en-US" sz="1300" b="1" dirty="0">
                <a:solidFill>
                  <a:schemeClr val="tx1"/>
                </a:solidFill>
              </a:rPr>
              <a:t>Pretraining  </a:t>
            </a:r>
            <a:pPr indent="0" marL="0">
              <a:buNone/>
            </a:pPr>
            <a:r>
              <a:rPr lang="en-US" sz="1300" dirty="0">
                <a:solidFill>
                  <a:schemeClr val="tx1"/>
                </a:solidFill>
              </a:rPr>
              <a:t>Supervised, ImageNet-1k, 1.28 million images</a:t>
            </a:r>
            <a:endParaRPr lang="en-US" sz="1300" dirty="0"/>
          </a:p>
        </p:txBody>
      </p:sp>
      <p:sp>
        <p:nvSpPr>
          <p:cNvPr id="21" name="Text 19"/>
          <p:cNvSpPr txBox="1"/>
          <p:nvPr/>
        </p:nvSpPr>
        <p:spPr>
          <a:xfrm>
            <a:off x="4526280" y="4846320"/>
            <a:ext cx="3108960" cy="548640"/>
          </a:xfrm>
          <a:prstGeom prst="rect">
            <a:avLst/>
          </a:prstGeom>
          <a:noFill/>
          <a:ln/>
        </p:spPr>
        <p:txBody>
          <a:bodyPr wrap="square" lIns="0" tIns="0" rIns="0" bIns="0" rtlCol="0" anchor="t"/>
          <a:lstStyle/>
          <a:p>
            <a:pPr indent="0" marL="0">
              <a:buNone/>
            </a:pPr>
            <a:r>
              <a:rPr lang="en-US" sz="1300" b="1" dirty="0">
                <a:solidFill>
                  <a:schemeClr val="accent3"/>
                </a:solidFill>
              </a:rPr>
              <a:t>+  </a:t>
            </a:r>
            <a:pPr indent="0" marL="0">
              <a:buNone/>
            </a:pPr>
            <a:r>
              <a:rPr lang="en-US" sz="1300" dirty="0">
                <a:solidFill>
                  <a:schemeClr val="tx1"/>
                </a:solidFill>
              </a:rPr>
              <a:t>Smallest and about 2.5 times faster</a:t>
            </a:r>
            <a:endParaRPr lang="en-US" sz="1300" dirty="0"/>
          </a:p>
        </p:txBody>
      </p:sp>
      <p:sp>
        <p:nvSpPr>
          <p:cNvPr id="22" name="Text 20"/>
          <p:cNvSpPr txBox="1"/>
          <p:nvPr/>
        </p:nvSpPr>
        <p:spPr>
          <a:xfrm>
            <a:off x="4526280" y="5440680"/>
            <a:ext cx="3108960" cy="548640"/>
          </a:xfrm>
          <a:prstGeom prst="rect">
            <a:avLst/>
          </a:prstGeom>
          <a:noFill/>
          <a:ln/>
        </p:spPr>
        <p:txBody>
          <a:bodyPr wrap="square" lIns="0" tIns="0" rIns="0" bIns="0" rtlCol="0" anchor="t"/>
          <a:lstStyle/>
          <a:p>
            <a:pPr indent="0" marL="0">
              <a:buNone/>
            </a:pPr>
            <a:r>
              <a:rPr lang="en-US" sz="1300" b="1" dirty="0">
                <a:solidFill>
                  <a:schemeClr val="accent4"/>
                </a:solidFill>
              </a:rPr>
              <a:t>-  </a:t>
            </a:r>
            <a:pPr indent="0" marL="0">
              <a:buNone/>
            </a:pPr>
            <a:r>
              <a:rPr lang="en-US" sz="1300" dirty="0">
                <a:solidFill>
                  <a:schemeClr val="tx1"/>
                </a:solidFill>
              </a:rPr>
              <a:t>Local view; more false alarms</a:t>
            </a:r>
            <a:endParaRPr lang="en-US" sz="1300" dirty="0"/>
          </a:p>
        </p:txBody>
      </p:sp>
      <p:sp>
        <p:nvSpPr>
          <p:cNvPr id="23" name="Shape 21"/>
          <p:cNvSpPr/>
          <p:nvPr/>
        </p:nvSpPr>
        <p:spPr>
          <a:xfrm>
            <a:off x="8046720" y="1280160"/>
            <a:ext cx="3520440" cy="4892040"/>
          </a:xfrm>
          <a:prstGeom prst="roundRect">
            <a:avLst>
              <a:gd name="adj" fmla="val 2078"/>
            </a:avLst>
          </a:prstGeom>
          <a:solidFill>
            <a:schemeClr val="bg2"/>
          </a:solidFill>
          <a:ln w="9525">
            <a:solidFill>
              <a:srgbClr val="D5DAE0"/>
            </a:solidFill>
            <a:prstDash val="solid"/>
          </a:ln>
        </p:spPr>
      </p:sp>
      <p:sp>
        <p:nvSpPr>
          <p:cNvPr id="24" name="Shape 22"/>
          <p:cNvSpPr/>
          <p:nvPr/>
        </p:nvSpPr>
        <p:spPr>
          <a:xfrm>
            <a:off x="8275320" y="1481328"/>
            <a:ext cx="274320" cy="274320"/>
          </a:xfrm>
          <a:prstGeom prst="ellipse">
            <a:avLst/>
          </a:prstGeom>
          <a:solidFill>
            <a:schemeClr val="accent4"/>
          </a:solidFill>
          <a:ln w="12700">
            <a:solidFill>
              <a:srgbClr val="C62828"/>
            </a:solidFill>
            <a:prstDash val="solid"/>
          </a:ln>
        </p:spPr>
      </p:sp>
      <p:sp>
        <p:nvSpPr>
          <p:cNvPr id="25" name="Text 23"/>
          <p:cNvSpPr txBox="1"/>
          <p:nvPr/>
        </p:nvSpPr>
        <p:spPr>
          <a:xfrm>
            <a:off x="8668512" y="1417320"/>
            <a:ext cx="2743200" cy="411480"/>
          </a:xfrm>
          <a:prstGeom prst="rect">
            <a:avLst/>
          </a:prstGeom>
          <a:noFill/>
          <a:ln/>
        </p:spPr>
        <p:txBody>
          <a:bodyPr wrap="square" lIns="0" tIns="0" rIns="0" bIns="0" rtlCol="0" anchor="ctr"/>
          <a:lstStyle/>
          <a:p>
            <a:pPr indent="0" marL="0">
              <a:buNone/>
            </a:pPr>
            <a:r>
              <a:rPr lang="en-US" sz="2000" b="1" dirty="0">
                <a:solidFill>
                  <a:schemeClr val="tx1"/>
                </a:solidFill>
              </a:rPr>
              <a:t>ResNet-18</a:t>
            </a:r>
            <a:endParaRPr lang="en-US" sz="2000" dirty="0"/>
          </a:p>
        </p:txBody>
      </p:sp>
      <p:sp>
        <p:nvSpPr>
          <p:cNvPr id="26" name="Text 24"/>
          <p:cNvSpPr txBox="1"/>
          <p:nvPr/>
        </p:nvSpPr>
        <p:spPr>
          <a:xfrm>
            <a:off x="8275320" y="1901952"/>
            <a:ext cx="3108960" cy="502920"/>
          </a:xfrm>
          <a:prstGeom prst="rect">
            <a:avLst/>
          </a:prstGeom>
          <a:noFill/>
          <a:ln/>
        </p:spPr>
        <p:txBody>
          <a:bodyPr wrap="square" lIns="0" tIns="0" rIns="0" bIns="0" rtlCol="0" anchor="t"/>
          <a:lstStyle/>
          <a:p>
            <a:pPr indent="0" marL="0">
              <a:buNone/>
            </a:pPr>
            <a:r>
              <a:rPr lang="en-US" sz="1300" dirty="0">
                <a:solidFill>
                  <a:schemeClr val="accent6"/>
                </a:solidFill>
              </a:rPr>
              <a:t>Convolutional network with skip connections</a:t>
            </a:r>
            <a:endParaRPr lang="en-US" sz="1300" dirty="0"/>
          </a:p>
        </p:txBody>
      </p:sp>
      <p:sp>
        <p:nvSpPr>
          <p:cNvPr id="27" name="Text 25"/>
          <p:cNvSpPr txBox="1"/>
          <p:nvPr/>
        </p:nvSpPr>
        <p:spPr>
          <a:xfrm>
            <a:off x="8275320" y="2423160"/>
            <a:ext cx="3108960" cy="731520"/>
          </a:xfrm>
          <a:prstGeom prst="rect">
            <a:avLst/>
          </a:prstGeom>
          <a:noFill/>
          <a:ln/>
        </p:spPr>
        <p:txBody>
          <a:bodyPr wrap="square" lIns="0" tIns="0" rIns="0" bIns="0" rtlCol="0" anchor="ctr"/>
          <a:lstStyle/>
          <a:p>
            <a:pPr indent="0" marL="0">
              <a:buNone/>
            </a:pPr>
            <a:r>
              <a:rPr lang="en-US" sz="4400" b="1" dirty="0">
                <a:solidFill>
                  <a:schemeClr val="accent4"/>
                </a:solidFill>
              </a:rPr>
              <a:t>11.2M</a:t>
            </a:r>
            <a:endParaRPr lang="en-US" sz="4400" dirty="0"/>
          </a:p>
        </p:txBody>
      </p:sp>
      <p:sp>
        <p:nvSpPr>
          <p:cNvPr id="28" name="Text 26"/>
          <p:cNvSpPr txBox="1"/>
          <p:nvPr/>
        </p:nvSpPr>
        <p:spPr>
          <a:xfrm>
            <a:off x="8275320" y="3127248"/>
            <a:ext cx="3108960" cy="274320"/>
          </a:xfrm>
          <a:prstGeom prst="rect">
            <a:avLst/>
          </a:prstGeom>
          <a:noFill/>
          <a:ln/>
        </p:spPr>
        <p:txBody>
          <a:bodyPr wrap="square" lIns="0" tIns="0" rIns="0" bIns="0" rtlCol="0" anchor="t"/>
          <a:lstStyle/>
          <a:p>
            <a:pPr indent="0" marL="0">
              <a:buNone/>
            </a:pPr>
            <a:r>
              <a:rPr lang="en-US" sz="1200" dirty="0">
                <a:solidFill>
                  <a:schemeClr val="accent6"/>
                </a:solidFill>
              </a:rPr>
              <a:t>backbone parameters</a:t>
            </a:r>
            <a:endParaRPr lang="en-US" sz="1200" dirty="0"/>
          </a:p>
        </p:txBody>
      </p:sp>
      <p:sp>
        <p:nvSpPr>
          <p:cNvPr id="29" name="Text 27"/>
          <p:cNvSpPr txBox="1"/>
          <p:nvPr/>
        </p:nvSpPr>
        <p:spPr>
          <a:xfrm>
            <a:off x="8275320" y="3566160"/>
            <a:ext cx="3108960" cy="502920"/>
          </a:xfrm>
          <a:prstGeom prst="rect">
            <a:avLst/>
          </a:prstGeom>
          <a:noFill/>
          <a:ln/>
        </p:spPr>
        <p:txBody>
          <a:bodyPr wrap="square" lIns="0" tIns="0" rIns="0" bIns="0" rtlCol="0" anchor="t"/>
          <a:lstStyle/>
          <a:p>
            <a:pPr indent="0" marL="0">
              <a:buNone/>
            </a:pPr>
            <a:r>
              <a:rPr lang="en-US" sz="1300" b="1" dirty="0">
                <a:solidFill>
                  <a:schemeClr val="tx1"/>
                </a:solidFill>
              </a:rPr>
              <a:t>Structure  </a:t>
            </a:r>
            <a:pPr indent="0" marL="0">
              <a:buNone/>
            </a:pPr>
            <a:r>
              <a:rPr lang="en-US" sz="1300" dirty="0">
                <a:solidFill>
                  <a:schemeClr val="tx1"/>
                </a:solidFill>
              </a:rPr>
              <a:t>8 residual blocks, 20 convolutions</a:t>
            </a:r>
            <a:endParaRPr lang="en-US" sz="1300" dirty="0"/>
          </a:p>
        </p:txBody>
      </p:sp>
      <p:sp>
        <p:nvSpPr>
          <p:cNvPr id="30" name="Text 28"/>
          <p:cNvSpPr txBox="1"/>
          <p:nvPr/>
        </p:nvSpPr>
        <p:spPr>
          <a:xfrm>
            <a:off x="8275320" y="4114800"/>
            <a:ext cx="3108960" cy="548640"/>
          </a:xfrm>
          <a:prstGeom prst="rect">
            <a:avLst/>
          </a:prstGeom>
          <a:noFill/>
          <a:ln/>
        </p:spPr>
        <p:txBody>
          <a:bodyPr wrap="square" lIns="0" tIns="0" rIns="0" bIns="0" rtlCol="0" anchor="t"/>
          <a:lstStyle/>
          <a:p>
            <a:pPr indent="0" marL="0">
              <a:buNone/>
            </a:pPr>
            <a:r>
              <a:rPr lang="en-US" sz="1300" b="1" dirty="0">
                <a:solidFill>
                  <a:schemeClr val="tx1"/>
                </a:solidFill>
              </a:rPr>
              <a:t>Pretraining  </a:t>
            </a:r>
            <a:pPr indent="0" marL="0">
              <a:buNone/>
            </a:pPr>
            <a:r>
              <a:rPr lang="en-US" sz="1300" dirty="0">
                <a:solidFill>
                  <a:schemeClr val="tx1"/>
                </a:solidFill>
              </a:rPr>
              <a:t>Supervised, ImageNet-1k, 1.28 million images</a:t>
            </a:r>
            <a:endParaRPr lang="en-US" sz="1300" dirty="0"/>
          </a:p>
        </p:txBody>
      </p:sp>
      <p:sp>
        <p:nvSpPr>
          <p:cNvPr id="31" name="Text 29"/>
          <p:cNvSpPr txBox="1"/>
          <p:nvPr/>
        </p:nvSpPr>
        <p:spPr>
          <a:xfrm>
            <a:off x="8275320" y="4846320"/>
            <a:ext cx="3108960" cy="548640"/>
          </a:xfrm>
          <a:prstGeom prst="rect">
            <a:avLst/>
          </a:prstGeom>
          <a:noFill/>
          <a:ln/>
        </p:spPr>
        <p:txBody>
          <a:bodyPr wrap="square" lIns="0" tIns="0" rIns="0" bIns="0" rtlCol="0" anchor="t"/>
          <a:lstStyle/>
          <a:p>
            <a:pPr indent="0" marL="0">
              <a:buNone/>
            </a:pPr>
            <a:r>
              <a:rPr lang="en-US" sz="1300" b="1" dirty="0">
                <a:solidFill>
                  <a:schemeClr val="accent3"/>
                </a:solidFill>
              </a:rPr>
              <a:t>+  </a:t>
            </a:r>
            <a:pPr indent="0" marL="0">
              <a:buNone/>
            </a:pPr>
            <a:r>
              <a:rPr lang="en-US" sz="1300" dirty="0">
                <a:solidFill>
                  <a:schemeClr val="tx1"/>
                </a:solidFill>
              </a:rPr>
              <a:t>Simple, standard, supported everywhere</a:t>
            </a:r>
            <a:endParaRPr lang="en-US" sz="1300" dirty="0"/>
          </a:p>
        </p:txBody>
      </p:sp>
      <p:sp>
        <p:nvSpPr>
          <p:cNvPr id="32" name="Text 30"/>
          <p:cNvSpPr txBox="1"/>
          <p:nvPr/>
        </p:nvSpPr>
        <p:spPr>
          <a:xfrm>
            <a:off x="8275320" y="5440680"/>
            <a:ext cx="3108960" cy="548640"/>
          </a:xfrm>
          <a:prstGeom prst="rect">
            <a:avLst/>
          </a:prstGeom>
          <a:noFill/>
          <a:ln/>
        </p:spPr>
        <p:txBody>
          <a:bodyPr wrap="square" lIns="0" tIns="0" rIns="0" bIns="0" rtlCol="0" anchor="t"/>
          <a:lstStyle/>
          <a:p>
            <a:pPr indent="0" marL="0">
              <a:buNone/>
            </a:pPr>
            <a:r>
              <a:rPr lang="en-US" sz="1300" b="1" dirty="0">
                <a:solidFill>
                  <a:schemeClr val="accent4"/>
                </a:solidFill>
              </a:rPr>
              <a:t>-  </a:t>
            </a:r>
            <a:pPr indent="0" marL="0">
              <a:buNone/>
            </a:pPr>
            <a:r>
              <a:rPr lang="en-US" sz="1300" dirty="0">
                <a:solidFill>
                  <a:schemeClr val="tx1"/>
                </a:solidFill>
              </a:rPr>
              <a:t>Lowest accuracy of the three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Inside DINOv3 ViT-S/16</a:t>
            </a:r>
            <a:endParaRPr lang="en-US" sz="3000" dirty="0"/>
          </a:p>
        </p:txBody>
      </p:sp>
      <p:sp>
        <p:nvSpPr>
          <p:cNvPr id="3" name="Shape 1"/>
          <p:cNvSpPr/>
          <p:nvPr/>
        </p:nvSpPr>
        <p:spPr>
          <a:xfrm>
            <a:off x="548640" y="1325880"/>
            <a:ext cx="1546597" cy="1143000"/>
          </a:xfrm>
          <a:prstGeom prst="roundRect">
            <a:avLst>
              <a:gd name="adj" fmla="val 4800"/>
            </a:avLst>
          </a:prstGeom>
          <a:solidFill>
            <a:schemeClr val="bg1"/>
          </a:solidFill>
          <a:ln w="19050">
            <a:solidFill>
              <a:srgbClr val="5B6670"/>
            </a:solidFill>
            <a:prstDash val="solid"/>
          </a:ln>
        </p:spPr>
      </p:sp>
      <p:sp>
        <p:nvSpPr>
          <p:cNvPr id="4" name="Text 2"/>
          <p:cNvSpPr txBox="1"/>
          <p:nvPr/>
        </p:nvSpPr>
        <p:spPr>
          <a:xfrm>
            <a:off x="594360" y="1325880"/>
            <a:ext cx="1455157" cy="1143000"/>
          </a:xfrm>
          <a:prstGeom prst="rect">
            <a:avLst/>
          </a:prstGeom>
          <a:noFill/>
          <a:ln/>
        </p:spPr>
        <p:txBody>
          <a:bodyPr wrap="square" lIns="0" tIns="0" rIns="0" bIns="0" rtlCol="0" anchor="ctr"/>
          <a:lstStyle/>
          <a:p>
            <a:pPr algn="ctr" indent="0" marL="0">
              <a:buNone/>
            </a:pPr>
            <a:r>
              <a:rPr lang="en-US" sz="1300" b="1" dirty="0">
                <a:solidFill>
                  <a:schemeClr val="tx1"/>
                </a:solidFill>
              </a:rPr>
              <a:t>Input</a:t>
            </a:r>
            <a:endParaRPr lang="en-US" sz="1300" dirty="0"/>
          </a:p>
          <a:p>
            <a:pPr algn="ctr" indent="0" marL="0">
              <a:buNone/>
            </a:pPr>
            <a:r>
              <a:rPr lang="en-US" sz="1100" dirty="0">
                <a:solidFill>
                  <a:schemeClr val="accent6"/>
                </a:solidFill>
              </a:rPr>
              <a:t>3 x 640 x 640 image</a:t>
            </a:r>
            <a:endParaRPr lang="en-US" sz="1300" dirty="0"/>
          </a:p>
        </p:txBody>
      </p:sp>
      <p:sp>
        <p:nvSpPr>
          <p:cNvPr id="5" name="Shape 3"/>
          <p:cNvSpPr/>
          <p:nvPr/>
        </p:nvSpPr>
        <p:spPr>
          <a:xfrm>
            <a:off x="2122669" y="1897380"/>
            <a:ext cx="219456" cy="0"/>
          </a:xfrm>
          <a:prstGeom prst="line">
            <a:avLst/>
          </a:prstGeom>
          <a:noFill/>
          <a:ln w="19050">
            <a:solidFill>
              <a:srgbClr val="5B6670"/>
            </a:solidFill>
            <a:prstDash val="solid"/>
            <a:tailEnd type="triangle"/>
          </a:ln>
        </p:spPr>
      </p:sp>
      <p:sp>
        <p:nvSpPr>
          <p:cNvPr id="6" name="Shape 4"/>
          <p:cNvSpPr/>
          <p:nvPr/>
        </p:nvSpPr>
        <p:spPr>
          <a:xfrm>
            <a:off x="2369557" y="1325880"/>
            <a:ext cx="1976208" cy="1143000"/>
          </a:xfrm>
          <a:prstGeom prst="roundRect">
            <a:avLst>
              <a:gd name="adj" fmla="val 4800"/>
            </a:avLst>
          </a:prstGeom>
          <a:solidFill>
            <a:schemeClr val="bg2"/>
          </a:solidFill>
          <a:ln w="19050">
            <a:solidFill>
              <a:srgbClr val="1F6F8B"/>
            </a:solidFill>
            <a:prstDash val="solid"/>
          </a:ln>
        </p:spPr>
      </p:sp>
      <p:sp>
        <p:nvSpPr>
          <p:cNvPr id="7" name="Text 5"/>
          <p:cNvSpPr txBox="1"/>
          <p:nvPr/>
        </p:nvSpPr>
        <p:spPr>
          <a:xfrm>
            <a:off x="2415277" y="1325880"/>
            <a:ext cx="1884768" cy="1143000"/>
          </a:xfrm>
          <a:prstGeom prst="rect">
            <a:avLst/>
          </a:prstGeom>
          <a:noFill/>
          <a:ln/>
        </p:spPr>
        <p:txBody>
          <a:bodyPr wrap="square" lIns="0" tIns="0" rIns="0" bIns="0" rtlCol="0" anchor="ctr"/>
          <a:lstStyle/>
          <a:p>
            <a:pPr algn="ctr" indent="0" marL="0">
              <a:buNone/>
            </a:pPr>
            <a:r>
              <a:rPr lang="en-US" sz="1300" b="1" dirty="0">
                <a:solidFill>
                  <a:schemeClr val="tx1"/>
                </a:solidFill>
              </a:rPr>
              <a:t>Patch embedding</a:t>
            </a:r>
            <a:endParaRPr lang="en-US" sz="1300" dirty="0"/>
          </a:p>
          <a:p>
            <a:pPr algn="ctr" indent="0" marL="0">
              <a:buNone/>
            </a:pPr>
            <a:r>
              <a:rPr lang="en-US" sz="1100" dirty="0">
                <a:solidFill>
                  <a:schemeClr val="accent6"/>
                </a:solidFill>
              </a:rPr>
              <a:t>16 x 16 px patches</a:t>
            </a:r>
            <a:endParaRPr lang="en-US" sz="1300" dirty="0"/>
          </a:p>
          <a:p>
            <a:pPr algn="ctr" indent="0" marL="0">
              <a:buNone/>
            </a:pPr>
            <a:r>
              <a:rPr lang="en-US" sz="1100" dirty="0">
                <a:solidFill>
                  <a:schemeClr val="accent6"/>
                </a:solidFill>
              </a:rPr>
              <a:t>1,600 tokens x 384</a:t>
            </a:r>
            <a:endParaRPr lang="en-US" sz="1300" dirty="0"/>
          </a:p>
        </p:txBody>
      </p:sp>
      <p:sp>
        <p:nvSpPr>
          <p:cNvPr id="8" name="Shape 6"/>
          <p:cNvSpPr/>
          <p:nvPr/>
        </p:nvSpPr>
        <p:spPr>
          <a:xfrm>
            <a:off x="4373197" y="1897380"/>
            <a:ext cx="219456" cy="0"/>
          </a:xfrm>
          <a:prstGeom prst="line">
            <a:avLst/>
          </a:prstGeom>
          <a:noFill/>
          <a:ln w="19050">
            <a:solidFill>
              <a:srgbClr val="5B6670"/>
            </a:solidFill>
            <a:prstDash val="solid"/>
            <a:tailEnd type="triangle"/>
          </a:ln>
        </p:spPr>
      </p:sp>
      <p:sp>
        <p:nvSpPr>
          <p:cNvPr id="9" name="Shape 7"/>
          <p:cNvSpPr/>
          <p:nvPr/>
        </p:nvSpPr>
        <p:spPr>
          <a:xfrm>
            <a:off x="4620085" y="1325880"/>
            <a:ext cx="2577662" cy="1143000"/>
          </a:xfrm>
          <a:prstGeom prst="roundRect">
            <a:avLst>
              <a:gd name="adj" fmla="val 4800"/>
            </a:avLst>
          </a:prstGeom>
          <a:solidFill>
            <a:schemeClr val="bg2"/>
          </a:solidFill>
          <a:ln w="19050">
            <a:solidFill>
              <a:srgbClr val="1F6F8B"/>
            </a:solidFill>
            <a:prstDash val="solid"/>
          </a:ln>
        </p:spPr>
      </p:sp>
      <p:sp>
        <p:nvSpPr>
          <p:cNvPr id="10" name="Text 8"/>
          <p:cNvSpPr txBox="1"/>
          <p:nvPr/>
        </p:nvSpPr>
        <p:spPr>
          <a:xfrm>
            <a:off x="4665805" y="1325880"/>
            <a:ext cx="2486222" cy="1143000"/>
          </a:xfrm>
          <a:prstGeom prst="rect">
            <a:avLst/>
          </a:prstGeom>
          <a:noFill/>
          <a:ln/>
        </p:spPr>
        <p:txBody>
          <a:bodyPr wrap="square" lIns="0" tIns="0" rIns="0" bIns="0" rtlCol="0" anchor="ctr"/>
          <a:lstStyle/>
          <a:p>
            <a:pPr algn="ctr" indent="0" marL="0">
              <a:buNone/>
            </a:pPr>
            <a:r>
              <a:rPr lang="en-US" sz="1300" b="1" dirty="0">
                <a:solidFill>
                  <a:schemeClr val="tx1"/>
                </a:solidFill>
              </a:rPr>
              <a:t>12 transformer blocks</a:t>
            </a:r>
            <a:endParaRPr lang="en-US" sz="1300" dirty="0"/>
          </a:p>
          <a:p>
            <a:pPr algn="ctr" indent="0" marL="0">
              <a:buNone/>
            </a:pPr>
            <a:r>
              <a:rPr lang="en-US" sz="1100" dirty="0">
                <a:solidFill>
                  <a:schemeClr val="accent6"/>
                </a:solidFill>
              </a:rPr>
              <a:t>every token attends to every</a:t>
            </a:r>
            <a:endParaRPr lang="en-US" sz="1300" dirty="0"/>
          </a:p>
          <a:p>
            <a:pPr algn="ctr" indent="0" marL="0">
              <a:buNone/>
            </a:pPr>
            <a:r>
              <a:rPr lang="en-US" sz="1100" dirty="0">
                <a:solidFill>
                  <a:schemeClr val="accent6"/>
                </a:solidFill>
              </a:rPr>
              <a:t>other token (6 heads)</a:t>
            </a:r>
            <a:endParaRPr lang="en-US" sz="1300" dirty="0"/>
          </a:p>
        </p:txBody>
      </p:sp>
      <p:sp>
        <p:nvSpPr>
          <p:cNvPr id="11" name="Shape 9"/>
          <p:cNvSpPr/>
          <p:nvPr/>
        </p:nvSpPr>
        <p:spPr>
          <a:xfrm>
            <a:off x="7225179" y="1897380"/>
            <a:ext cx="219456" cy="0"/>
          </a:xfrm>
          <a:prstGeom prst="line">
            <a:avLst/>
          </a:prstGeom>
          <a:noFill/>
          <a:ln w="19050">
            <a:solidFill>
              <a:srgbClr val="5B6670"/>
            </a:solidFill>
            <a:prstDash val="solid"/>
            <a:tailEnd type="triangle"/>
          </a:ln>
        </p:spPr>
      </p:sp>
      <p:sp>
        <p:nvSpPr>
          <p:cNvPr id="12" name="Shape 10"/>
          <p:cNvSpPr/>
          <p:nvPr/>
        </p:nvSpPr>
        <p:spPr>
          <a:xfrm>
            <a:off x="7472067" y="1325880"/>
            <a:ext cx="1890286" cy="1143000"/>
          </a:xfrm>
          <a:prstGeom prst="roundRect">
            <a:avLst>
              <a:gd name="adj" fmla="val 4800"/>
            </a:avLst>
          </a:prstGeom>
          <a:solidFill>
            <a:schemeClr val="bg2"/>
          </a:solidFill>
          <a:ln w="19050">
            <a:solidFill>
              <a:srgbClr val="1F6F8B"/>
            </a:solidFill>
            <a:prstDash val="solid"/>
          </a:ln>
        </p:spPr>
      </p:sp>
      <p:sp>
        <p:nvSpPr>
          <p:cNvPr id="13" name="Text 11"/>
          <p:cNvSpPr txBox="1"/>
          <p:nvPr/>
        </p:nvSpPr>
        <p:spPr>
          <a:xfrm>
            <a:off x="7517787" y="1325880"/>
            <a:ext cx="1798846" cy="1143000"/>
          </a:xfrm>
          <a:prstGeom prst="rect">
            <a:avLst/>
          </a:prstGeom>
          <a:noFill/>
          <a:ln/>
        </p:spPr>
        <p:txBody>
          <a:bodyPr wrap="square" lIns="0" tIns="0" rIns="0" bIns="0" rtlCol="0" anchor="ctr"/>
          <a:lstStyle/>
          <a:p>
            <a:pPr algn="ctr" indent="0" marL="0">
              <a:buNone/>
            </a:pPr>
            <a:r>
              <a:rPr lang="en-US" sz="1300" b="1" dirty="0">
                <a:solidFill>
                  <a:schemeClr val="tx1"/>
                </a:solidFill>
              </a:rPr>
              <a:t>Feature map</a:t>
            </a:r>
            <a:endParaRPr lang="en-US" sz="1300" dirty="0"/>
          </a:p>
          <a:p>
            <a:pPr algn="ctr" indent="0" marL="0">
              <a:buNone/>
            </a:pPr>
            <a:r>
              <a:rPr lang="en-US" sz="1100" dirty="0">
                <a:solidFill>
                  <a:schemeClr val="accent6"/>
                </a:solidFill>
              </a:rPr>
              <a:t>1,600 tokens x 384</a:t>
            </a:r>
            <a:endParaRPr lang="en-US" sz="1300" dirty="0"/>
          </a:p>
          <a:p>
            <a:pPr algn="ctr" indent="0" marL="0">
              <a:buNone/>
            </a:pPr>
            <a:r>
              <a:rPr lang="en-US" sz="1100" dirty="0">
                <a:solidFill>
                  <a:schemeClr val="accent6"/>
                </a:solidFill>
              </a:rPr>
              <a:t>(1/16 resolution)</a:t>
            </a:r>
            <a:endParaRPr lang="en-US" sz="1300" dirty="0"/>
          </a:p>
        </p:txBody>
      </p:sp>
      <p:sp>
        <p:nvSpPr>
          <p:cNvPr id="14" name="Shape 12"/>
          <p:cNvSpPr/>
          <p:nvPr/>
        </p:nvSpPr>
        <p:spPr>
          <a:xfrm>
            <a:off x="9389784" y="1897380"/>
            <a:ext cx="219456" cy="0"/>
          </a:xfrm>
          <a:prstGeom prst="line">
            <a:avLst/>
          </a:prstGeom>
          <a:noFill/>
          <a:ln w="19050">
            <a:solidFill>
              <a:srgbClr val="5B6670"/>
            </a:solidFill>
            <a:prstDash val="solid"/>
            <a:tailEnd type="triangle"/>
          </a:ln>
        </p:spPr>
      </p:sp>
      <p:sp>
        <p:nvSpPr>
          <p:cNvPr id="15" name="Shape 13"/>
          <p:cNvSpPr/>
          <p:nvPr/>
        </p:nvSpPr>
        <p:spPr>
          <a:xfrm>
            <a:off x="9636672" y="1325880"/>
            <a:ext cx="1976208" cy="1143000"/>
          </a:xfrm>
          <a:prstGeom prst="roundRect">
            <a:avLst>
              <a:gd name="adj" fmla="val 4800"/>
            </a:avLst>
          </a:prstGeom>
          <a:solidFill>
            <a:schemeClr val="bg1"/>
          </a:solidFill>
          <a:ln w="19050">
            <a:solidFill>
              <a:srgbClr val="5B6670"/>
            </a:solidFill>
            <a:prstDash val="solid"/>
          </a:ln>
        </p:spPr>
      </p:sp>
      <p:sp>
        <p:nvSpPr>
          <p:cNvPr id="16" name="Text 14"/>
          <p:cNvSpPr txBox="1"/>
          <p:nvPr/>
        </p:nvSpPr>
        <p:spPr>
          <a:xfrm>
            <a:off x="9682392" y="1325880"/>
            <a:ext cx="1884768" cy="1143000"/>
          </a:xfrm>
          <a:prstGeom prst="rect">
            <a:avLst/>
          </a:prstGeom>
          <a:noFill/>
          <a:ln/>
        </p:spPr>
        <p:txBody>
          <a:bodyPr wrap="square" lIns="0" tIns="0" rIns="0" bIns="0" rtlCol="0" anchor="ctr"/>
          <a:lstStyle/>
          <a:p>
            <a:pPr algn="ctr" indent="0" marL="0">
              <a:buNone/>
            </a:pPr>
            <a:r>
              <a:rPr lang="en-US" sz="1300" b="1" dirty="0">
                <a:solidFill>
                  <a:schemeClr val="tx1"/>
                </a:solidFill>
              </a:rPr>
              <a:t>Feature pyramid</a:t>
            </a:r>
            <a:endParaRPr lang="en-US" sz="1300" dirty="0"/>
          </a:p>
          <a:p>
            <a:pPr algn="ctr" indent="0" marL="0">
              <a:buNone/>
            </a:pPr>
            <a:r>
              <a:rPr lang="en-US" sz="1100" dirty="0">
                <a:solidFill>
                  <a:schemeClr val="accent6"/>
                </a:solidFill>
              </a:rPr>
              <a:t>4 levels, 256 channels</a:t>
            </a:r>
            <a:endParaRPr lang="en-US" sz="1300" dirty="0"/>
          </a:p>
          <a:p>
            <a:pPr algn="ctr" indent="0" marL="0">
              <a:buNone/>
            </a:pPr>
            <a:r>
              <a:rPr lang="en-US" sz="1100" dirty="0">
                <a:solidFill>
                  <a:schemeClr val="accent6"/>
                </a:solidFill>
              </a:rPr>
              <a:t>80, 40, 20, 10</a:t>
            </a:r>
            <a:endParaRPr lang="en-US" sz="1300" dirty="0"/>
          </a:p>
        </p:txBody>
      </p:sp>
      <p:sp>
        <p:nvSpPr>
          <p:cNvPr id="17" name="Text 15"/>
          <p:cNvSpPr txBox="1"/>
          <p:nvPr/>
        </p:nvSpPr>
        <p:spPr>
          <a:xfrm>
            <a:off x="548640" y="2697480"/>
            <a:ext cx="7315200" cy="320040"/>
          </a:xfrm>
          <a:prstGeom prst="rect">
            <a:avLst/>
          </a:prstGeom>
          <a:noFill/>
          <a:ln/>
        </p:spPr>
        <p:txBody>
          <a:bodyPr wrap="square" lIns="0" tIns="0" rIns="0" bIns="0" rtlCol="0" anchor="t"/>
          <a:lstStyle/>
          <a:p>
            <a:pPr indent="0" marL="0">
              <a:buNone/>
            </a:pPr>
            <a:r>
              <a:rPr lang="en-US" sz="1400" b="1" dirty="0">
                <a:solidFill>
                  <a:schemeClr val="accent2"/>
                </a:solidFill>
              </a:rPr>
              <a:t>Inside one transformer block (repeated 12 times)</a:t>
            </a:r>
            <a:endParaRPr lang="en-US" sz="1400" dirty="0"/>
          </a:p>
        </p:txBody>
      </p:sp>
      <p:sp>
        <p:nvSpPr>
          <p:cNvPr id="18" name="Shape 16"/>
          <p:cNvSpPr/>
          <p:nvPr/>
        </p:nvSpPr>
        <p:spPr>
          <a:xfrm>
            <a:off x="548640" y="3063240"/>
            <a:ext cx="1520414" cy="731520"/>
          </a:xfrm>
          <a:prstGeom prst="roundRect">
            <a:avLst>
              <a:gd name="adj" fmla="val 7500"/>
            </a:avLst>
          </a:prstGeom>
          <a:solidFill>
            <a:schemeClr val="bg1"/>
          </a:solidFill>
          <a:ln w="19050">
            <a:solidFill>
              <a:srgbClr val="5B6670"/>
            </a:solidFill>
            <a:prstDash val="solid"/>
          </a:ln>
        </p:spPr>
      </p:sp>
      <p:sp>
        <p:nvSpPr>
          <p:cNvPr id="19" name="Text 17"/>
          <p:cNvSpPr txBox="1"/>
          <p:nvPr/>
        </p:nvSpPr>
        <p:spPr>
          <a:xfrm>
            <a:off x="594360" y="3063240"/>
            <a:ext cx="1428974" cy="731520"/>
          </a:xfrm>
          <a:prstGeom prst="rect">
            <a:avLst/>
          </a:prstGeom>
          <a:noFill/>
          <a:ln/>
        </p:spPr>
        <p:txBody>
          <a:bodyPr wrap="square" lIns="0" tIns="0" rIns="0" bIns="0" rtlCol="0" anchor="ctr"/>
          <a:lstStyle/>
          <a:p>
            <a:pPr algn="ctr" indent="0" marL="0">
              <a:buNone/>
            </a:pPr>
            <a:r>
              <a:rPr lang="en-US" sz="1300" b="1" dirty="0">
                <a:solidFill>
                  <a:schemeClr val="tx1"/>
                </a:solidFill>
              </a:rPr>
              <a:t>LayerNorm</a:t>
            </a:r>
            <a:endParaRPr lang="en-US" sz="1300" dirty="0"/>
          </a:p>
        </p:txBody>
      </p:sp>
      <p:sp>
        <p:nvSpPr>
          <p:cNvPr id="20" name="Shape 18"/>
          <p:cNvSpPr/>
          <p:nvPr/>
        </p:nvSpPr>
        <p:spPr>
          <a:xfrm>
            <a:off x="2096486" y="3429000"/>
            <a:ext cx="219456" cy="0"/>
          </a:xfrm>
          <a:prstGeom prst="line">
            <a:avLst/>
          </a:prstGeom>
          <a:noFill/>
          <a:ln w="19050">
            <a:solidFill>
              <a:srgbClr val="5B6670"/>
            </a:solidFill>
            <a:prstDash val="solid"/>
            <a:tailEnd type="triangle"/>
          </a:ln>
        </p:spPr>
      </p:sp>
      <p:sp>
        <p:nvSpPr>
          <p:cNvPr id="21" name="Shape 19"/>
          <p:cNvSpPr/>
          <p:nvPr/>
        </p:nvSpPr>
        <p:spPr>
          <a:xfrm>
            <a:off x="2343374" y="3063240"/>
            <a:ext cx="2090569" cy="731520"/>
          </a:xfrm>
          <a:prstGeom prst="roundRect">
            <a:avLst>
              <a:gd name="adj" fmla="val 7500"/>
            </a:avLst>
          </a:prstGeom>
          <a:solidFill>
            <a:schemeClr val="bg1"/>
          </a:solidFill>
          <a:ln w="19050">
            <a:solidFill>
              <a:srgbClr val="5B6670"/>
            </a:solidFill>
            <a:prstDash val="solid"/>
          </a:ln>
        </p:spPr>
      </p:sp>
      <p:sp>
        <p:nvSpPr>
          <p:cNvPr id="22" name="Text 20"/>
          <p:cNvSpPr txBox="1"/>
          <p:nvPr/>
        </p:nvSpPr>
        <p:spPr>
          <a:xfrm>
            <a:off x="2389094" y="3063240"/>
            <a:ext cx="1999129" cy="731520"/>
          </a:xfrm>
          <a:prstGeom prst="rect">
            <a:avLst/>
          </a:prstGeom>
          <a:noFill/>
          <a:ln/>
        </p:spPr>
        <p:txBody>
          <a:bodyPr wrap="square" lIns="0" tIns="0" rIns="0" bIns="0" rtlCol="0" anchor="ctr"/>
          <a:lstStyle/>
          <a:p>
            <a:pPr algn="ctr" indent="0" marL="0">
              <a:buNone/>
            </a:pPr>
            <a:r>
              <a:rPr lang="en-US" sz="1300" b="1" dirty="0">
                <a:solidFill>
                  <a:schemeClr val="tx1"/>
                </a:solidFill>
              </a:rPr>
              <a:t>Self-attention</a:t>
            </a:r>
            <a:endParaRPr lang="en-US" sz="1300" dirty="0"/>
          </a:p>
          <a:p>
            <a:pPr algn="ctr" indent="0" marL="0">
              <a:buNone/>
            </a:pPr>
            <a:r>
              <a:rPr lang="en-US" sz="1100" dirty="0">
                <a:solidFill>
                  <a:schemeClr val="accent6"/>
                </a:solidFill>
              </a:rPr>
              <a:t>6 heads</a:t>
            </a:r>
            <a:endParaRPr lang="en-US" sz="1300" dirty="0"/>
          </a:p>
        </p:txBody>
      </p:sp>
      <p:sp>
        <p:nvSpPr>
          <p:cNvPr id="23" name="Shape 21"/>
          <p:cNvSpPr/>
          <p:nvPr/>
        </p:nvSpPr>
        <p:spPr>
          <a:xfrm>
            <a:off x="4461376" y="3429000"/>
            <a:ext cx="219456" cy="0"/>
          </a:xfrm>
          <a:prstGeom prst="line">
            <a:avLst/>
          </a:prstGeom>
          <a:noFill/>
          <a:ln w="19050">
            <a:solidFill>
              <a:srgbClr val="5B6670"/>
            </a:solidFill>
            <a:prstDash val="solid"/>
            <a:tailEnd type="triangle"/>
          </a:ln>
        </p:spPr>
      </p:sp>
      <p:sp>
        <p:nvSpPr>
          <p:cNvPr id="24" name="Shape 22"/>
          <p:cNvSpPr/>
          <p:nvPr/>
        </p:nvSpPr>
        <p:spPr>
          <a:xfrm>
            <a:off x="4708264" y="3063240"/>
            <a:ext cx="1140311" cy="731520"/>
          </a:xfrm>
          <a:prstGeom prst="roundRect">
            <a:avLst>
              <a:gd name="adj" fmla="val 7500"/>
            </a:avLst>
          </a:prstGeom>
          <a:solidFill>
            <a:schemeClr val="bg1"/>
          </a:solidFill>
          <a:ln w="19050">
            <a:solidFill>
              <a:srgbClr val="5B6670"/>
            </a:solidFill>
            <a:prstDash val="solid"/>
          </a:ln>
        </p:spPr>
      </p:sp>
      <p:sp>
        <p:nvSpPr>
          <p:cNvPr id="25" name="Text 23"/>
          <p:cNvSpPr txBox="1"/>
          <p:nvPr/>
        </p:nvSpPr>
        <p:spPr>
          <a:xfrm>
            <a:off x="4753984" y="3063240"/>
            <a:ext cx="1048871" cy="731520"/>
          </a:xfrm>
          <a:prstGeom prst="rect">
            <a:avLst/>
          </a:prstGeom>
          <a:noFill/>
          <a:ln/>
        </p:spPr>
        <p:txBody>
          <a:bodyPr wrap="square" lIns="0" tIns="0" rIns="0" bIns="0" rtlCol="0" anchor="ctr"/>
          <a:lstStyle/>
          <a:p>
            <a:pPr algn="ctr" indent="0" marL="0">
              <a:buNone/>
            </a:pPr>
            <a:r>
              <a:rPr lang="en-US" sz="1300" b="1" dirty="0">
                <a:solidFill>
                  <a:schemeClr val="tx1"/>
                </a:solidFill>
              </a:rPr>
              <a:t>+ skip</a:t>
            </a:r>
            <a:endParaRPr lang="en-US" sz="1300" dirty="0"/>
          </a:p>
        </p:txBody>
      </p:sp>
      <p:sp>
        <p:nvSpPr>
          <p:cNvPr id="26" name="Shape 24"/>
          <p:cNvSpPr/>
          <p:nvPr/>
        </p:nvSpPr>
        <p:spPr>
          <a:xfrm>
            <a:off x="5876006" y="3429000"/>
            <a:ext cx="219456" cy="0"/>
          </a:xfrm>
          <a:prstGeom prst="line">
            <a:avLst/>
          </a:prstGeom>
          <a:noFill/>
          <a:ln w="19050">
            <a:solidFill>
              <a:srgbClr val="5B6670"/>
            </a:solidFill>
            <a:prstDash val="solid"/>
            <a:tailEnd type="triangle"/>
          </a:ln>
        </p:spPr>
      </p:sp>
      <p:sp>
        <p:nvSpPr>
          <p:cNvPr id="27" name="Shape 25"/>
          <p:cNvSpPr/>
          <p:nvPr/>
        </p:nvSpPr>
        <p:spPr>
          <a:xfrm>
            <a:off x="6122894" y="3063240"/>
            <a:ext cx="1520414" cy="731520"/>
          </a:xfrm>
          <a:prstGeom prst="roundRect">
            <a:avLst>
              <a:gd name="adj" fmla="val 7500"/>
            </a:avLst>
          </a:prstGeom>
          <a:solidFill>
            <a:schemeClr val="bg1"/>
          </a:solidFill>
          <a:ln w="19050">
            <a:solidFill>
              <a:srgbClr val="5B6670"/>
            </a:solidFill>
            <a:prstDash val="solid"/>
          </a:ln>
        </p:spPr>
      </p:sp>
      <p:sp>
        <p:nvSpPr>
          <p:cNvPr id="28" name="Text 26"/>
          <p:cNvSpPr txBox="1"/>
          <p:nvPr/>
        </p:nvSpPr>
        <p:spPr>
          <a:xfrm>
            <a:off x="6168614" y="3063240"/>
            <a:ext cx="1428974" cy="731520"/>
          </a:xfrm>
          <a:prstGeom prst="rect">
            <a:avLst/>
          </a:prstGeom>
          <a:noFill/>
          <a:ln/>
        </p:spPr>
        <p:txBody>
          <a:bodyPr wrap="square" lIns="0" tIns="0" rIns="0" bIns="0" rtlCol="0" anchor="ctr"/>
          <a:lstStyle/>
          <a:p>
            <a:pPr algn="ctr" indent="0" marL="0">
              <a:buNone/>
            </a:pPr>
            <a:r>
              <a:rPr lang="en-US" sz="1300" b="1" dirty="0">
                <a:solidFill>
                  <a:schemeClr val="tx1"/>
                </a:solidFill>
              </a:rPr>
              <a:t>LayerNorm</a:t>
            </a:r>
            <a:endParaRPr lang="en-US" sz="1300" dirty="0"/>
          </a:p>
        </p:txBody>
      </p:sp>
      <p:sp>
        <p:nvSpPr>
          <p:cNvPr id="29" name="Shape 27"/>
          <p:cNvSpPr/>
          <p:nvPr/>
        </p:nvSpPr>
        <p:spPr>
          <a:xfrm>
            <a:off x="7670740" y="3429000"/>
            <a:ext cx="219456" cy="0"/>
          </a:xfrm>
          <a:prstGeom prst="line">
            <a:avLst/>
          </a:prstGeom>
          <a:noFill/>
          <a:ln w="19050">
            <a:solidFill>
              <a:srgbClr val="5B6670"/>
            </a:solidFill>
            <a:prstDash val="solid"/>
            <a:tailEnd type="triangle"/>
          </a:ln>
        </p:spPr>
      </p:sp>
      <p:sp>
        <p:nvSpPr>
          <p:cNvPr id="30" name="Shape 28"/>
          <p:cNvSpPr/>
          <p:nvPr/>
        </p:nvSpPr>
        <p:spPr>
          <a:xfrm>
            <a:off x="7917628" y="3063240"/>
            <a:ext cx="2280621" cy="731520"/>
          </a:xfrm>
          <a:prstGeom prst="roundRect">
            <a:avLst>
              <a:gd name="adj" fmla="val 7500"/>
            </a:avLst>
          </a:prstGeom>
          <a:solidFill>
            <a:schemeClr val="bg1"/>
          </a:solidFill>
          <a:ln w="19050">
            <a:solidFill>
              <a:srgbClr val="5B6670"/>
            </a:solidFill>
            <a:prstDash val="solid"/>
          </a:ln>
        </p:spPr>
      </p:sp>
      <p:sp>
        <p:nvSpPr>
          <p:cNvPr id="31" name="Text 29"/>
          <p:cNvSpPr txBox="1"/>
          <p:nvPr/>
        </p:nvSpPr>
        <p:spPr>
          <a:xfrm>
            <a:off x="7963348" y="3063240"/>
            <a:ext cx="2189181" cy="731520"/>
          </a:xfrm>
          <a:prstGeom prst="rect">
            <a:avLst/>
          </a:prstGeom>
          <a:noFill/>
          <a:ln/>
        </p:spPr>
        <p:txBody>
          <a:bodyPr wrap="square" lIns="0" tIns="0" rIns="0" bIns="0" rtlCol="0" anchor="ctr"/>
          <a:lstStyle/>
          <a:p>
            <a:pPr algn="ctr" indent="0" marL="0">
              <a:buNone/>
            </a:pPr>
            <a:r>
              <a:rPr lang="en-US" sz="1300" b="1" dirty="0">
                <a:solidFill>
                  <a:schemeClr val="tx1"/>
                </a:solidFill>
              </a:rPr>
              <a:t>MLP</a:t>
            </a:r>
            <a:endParaRPr lang="en-US" sz="1300" dirty="0"/>
          </a:p>
          <a:p>
            <a:pPr algn="ctr" indent="0" marL="0">
              <a:buNone/>
            </a:pPr>
            <a:r>
              <a:rPr lang="en-US" sz="1100" dirty="0">
                <a:solidFill>
                  <a:schemeClr val="accent6"/>
                </a:solidFill>
              </a:rPr>
              <a:t>384 &gt; 1,536 &gt; 384</a:t>
            </a:r>
            <a:endParaRPr lang="en-US" sz="1300" dirty="0"/>
          </a:p>
        </p:txBody>
      </p:sp>
      <p:sp>
        <p:nvSpPr>
          <p:cNvPr id="32" name="Shape 30"/>
          <p:cNvSpPr/>
          <p:nvPr/>
        </p:nvSpPr>
        <p:spPr>
          <a:xfrm>
            <a:off x="10225681" y="3429000"/>
            <a:ext cx="219456" cy="0"/>
          </a:xfrm>
          <a:prstGeom prst="line">
            <a:avLst/>
          </a:prstGeom>
          <a:noFill/>
          <a:ln w="19050">
            <a:solidFill>
              <a:srgbClr val="5B6670"/>
            </a:solidFill>
            <a:prstDash val="solid"/>
            <a:tailEnd type="triangle"/>
          </a:ln>
        </p:spPr>
      </p:sp>
      <p:sp>
        <p:nvSpPr>
          <p:cNvPr id="33" name="Shape 31"/>
          <p:cNvSpPr/>
          <p:nvPr/>
        </p:nvSpPr>
        <p:spPr>
          <a:xfrm>
            <a:off x="10472569" y="3063240"/>
            <a:ext cx="1140311" cy="731520"/>
          </a:xfrm>
          <a:prstGeom prst="roundRect">
            <a:avLst>
              <a:gd name="adj" fmla="val 7500"/>
            </a:avLst>
          </a:prstGeom>
          <a:solidFill>
            <a:schemeClr val="bg1"/>
          </a:solidFill>
          <a:ln w="19050">
            <a:solidFill>
              <a:srgbClr val="5B6670"/>
            </a:solidFill>
            <a:prstDash val="solid"/>
          </a:ln>
        </p:spPr>
      </p:sp>
      <p:sp>
        <p:nvSpPr>
          <p:cNvPr id="34" name="Text 32"/>
          <p:cNvSpPr txBox="1"/>
          <p:nvPr/>
        </p:nvSpPr>
        <p:spPr>
          <a:xfrm>
            <a:off x="10518289" y="3063240"/>
            <a:ext cx="1048871" cy="731520"/>
          </a:xfrm>
          <a:prstGeom prst="rect">
            <a:avLst/>
          </a:prstGeom>
          <a:noFill/>
          <a:ln/>
        </p:spPr>
        <p:txBody>
          <a:bodyPr wrap="square" lIns="0" tIns="0" rIns="0" bIns="0" rtlCol="0" anchor="ctr"/>
          <a:lstStyle/>
          <a:p>
            <a:pPr algn="ctr" indent="0" marL="0">
              <a:buNone/>
            </a:pPr>
            <a:r>
              <a:rPr lang="en-US" sz="1300" b="1" dirty="0">
                <a:solidFill>
                  <a:schemeClr val="tx1"/>
                </a:solidFill>
              </a:rPr>
              <a:t>+ skip</a:t>
            </a:r>
            <a:endParaRPr lang="en-US" sz="1300" dirty="0"/>
          </a:p>
        </p:txBody>
      </p:sp>
      <p:sp>
        <p:nvSpPr>
          <p:cNvPr id="35" name="Text 33"/>
          <p:cNvSpPr txBox="1"/>
          <p:nvPr/>
        </p:nvSpPr>
        <p:spPr>
          <a:xfrm>
            <a:off x="548640" y="4114800"/>
            <a:ext cx="1965960" cy="731520"/>
          </a:xfrm>
          <a:prstGeom prst="rect">
            <a:avLst/>
          </a:prstGeom>
          <a:noFill/>
          <a:ln/>
        </p:spPr>
        <p:txBody>
          <a:bodyPr wrap="square" lIns="0" tIns="0" rIns="0" bIns="0" rtlCol="0" anchor="ctr"/>
          <a:lstStyle/>
          <a:p>
            <a:pPr indent="0" marL="0">
              <a:buNone/>
            </a:pPr>
            <a:r>
              <a:rPr lang="en-US" sz="3800" b="1" dirty="0">
                <a:solidFill>
                  <a:schemeClr val="accent2"/>
                </a:solidFill>
              </a:rPr>
              <a:t>21.6M</a:t>
            </a:r>
            <a:endParaRPr lang="en-US" sz="3800" dirty="0"/>
          </a:p>
        </p:txBody>
      </p:sp>
      <p:sp>
        <p:nvSpPr>
          <p:cNvPr id="36" name="Text 34"/>
          <p:cNvSpPr txBox="1"/>
          <p:nvPr/>
        </p:nvSpPr>
        <p:spPr>
          <a:xfrm>
            <a:off x="548640" y="4846320"/>
            <a:ext cx="1965960" cy="548640"/>
          </a:xfrm>
          <a:prstGeom prst="rect">
            <a:avLst/>
          </a:prstGeom>
          <a:noFill/>
          <a:ln/>
        </p:spPr>
        <p:txBody>
          <a:bodyPr wrap="square" lIns="0" tIns="0" rIns="0" bIns="0" rtlCol="0" anchor="t"/>
          <a:lstStyle/>
          <a:p>
            <a:pPr indent="0" marL="0">
              <a:buNone/>
            </a:pPr>
            <a:r>
              <a:rPr lang="en-US" sz="1200" dirty="0">
                <a:solidFill>
                  <a:schemeClr val="accent6"/>
                </a:solidFill>
              </a:rPr>
              <a:t>parameters</a:t>
            </a:r>
            <a:endParaRPr lang="en-US" sz="1200" dirty="0"/>
          </a:p>
        </p:txBody>
      </p:sp>
      <p:sp>
        <p:nvSpPr>
          <p:cNvPr id="37" name="Text 35"/>
          <p:cNvSpPr txBox="1"/>
          <p:nvPr/>
        </p:nvSpPr>
        <p:spPr>
          <a:xfrm>
            <a:off x="2606040" y="4114800"/>
            <a:ext cx="1965960" cy="731520"/>
          </a:xfrm>
          <a:prstGeom prst="rect">
            <a:avLst/>
          </a:prstGeom>
          <a:noFill/>
          <a:ln/>
        </p:spPr>
        <p:txBody>
          <a:bodyPr wrap="square" lIns="0" tIns="0" rIns="0" bIns="0" rtlCol="0" anchor="ctr"/>
          <a:lstStyle/>
          <a:p>
            <a:pPr indent="0" marL="0">
              <a:buNone/>
            </a:pPr>
            <a:r>
              <a:rPr lang="en-US" sz="3800" b="1" dirty="0">
                <a:solidFill>
                  <a:schemeClr val="accent2"/>
                </a:solidFill>
              </a:rPr>
              <a:t>12</a:t>
            </a:r>
            <a:endParaRPr lang="en-US" sz="3800" dirty="0"/>
          </a:p>
        </p:txBody>
      </p:sp>
      <p:sp>
        <p:nvSpPr>
          <p:cNvPr id="38" name="Text 36"/>
          <p:cNvSpPr txBox="1"/>
          <p:nvPr/>
        </p:nvSpPr>
        <p:spPr>
          <a:xfrm>
            <a:off x="2606040" y="4846320"/>
            <a:ext cx="1965960" cy="548640"/>
          </a:xfrm>
          <a:prstGeom prst="rect">
            <a:avLst/>
          </a:prstGeom>
          <a:noFill/>
          <a:ln/>
        </p:spPr>
        <p:txBody>
          <a:bodyPr wrap="square" lIns="0" tIns="0" rIns="0" bIns="0" rtlCol="0" anchor="t"/>
          <a:lstStyle/>
          <a:p>
            <a:pPr indent="0" marL="0">
              <a:buNone/>
            </a:pPr>
            <a:r>
              <a:rPr lang="en-US" sz="1200" dirty="0">
                <a:solidFill>
                  <a:schemeClr val="accent6"/>
                </a:solidFill>
              </a:rPr>
              <a:t>transformer blocks</a:t>
            </a:r>
            <a:endParaRPr lang="en-US" sz="1200" dirty="0"/>
          </a:p>
        </p:txBody>
      </p:sp>
      <p:sp>
        <p:nvSpPr>
          <p:cNvPr id="39" name="Text 37"/>
          <p:cNvSpPr txBox="1"/>
          <p:nvPr/>
        </p:nvSpPr>
        <p:spPr>
          <a:xfrm>
            <a:off x="4663440" y="4114800"/>
            <a:ext cx="1965960" cy="731520"/>
          </a:xfrm>
          <a:prstGeom prst="rect">
            <a:avLst/>
          </a:prstGeom>
          <a:noFill/>
          <a:ln/>
        </p:spPr>
        <p:txBody>
          <a:bodyPr wrap="square" lIns="0" tIns="0" rIns="0" bIns="0" rtlCol="0" anchor="ctr"/>
          <a:lstStyle/>
          <a:p>
            <a:pPr indent="0" marL="0">
              <a:buNone/>
            </a:pPr>
            <a:r>
              <a:rPr lang="en-US" sz="3800" b="1" dirty="0">
                <a:solidFill>
                  <a:schemeClr val="accent2"/>
                </a:solidFill>
              </a:rPr>
              <a:t>1.689 B</a:t>
            </a:r>
            <a:endParaRPr lang="en-US" sz="3800" dirty="0"/>
          </a:p>
        </p:txBody>
      </p:sp>
      <p:sp>
        <p:nvSpPr>
          <p:cNvPr id="40" name="Text 38"/>
          <p:cNvSpPr txBox="1"/>
          <p:nvPr/>
        </p:nvSpPr>
        <p:spPr>
          <a:xfrm>
            <a:off x="4663440" y="4846320"/>
            <a:ext cx="1965960" cy="548640"/>
          </a:xfrm>
          <a:prstGeom prst="rect">
            <a:avLst/>
          </a:prstGeom>
          <a:noFill/>
          <a:ln/>
        </p:spPr>
        <p:txBody>
          <a:bodyPr wrap="square" lIns="0" tIns="0" rIns="0" bIns="0" rtlCol="0" anchor="t"/>
          <a:lstStyle/>
          <a:p>
            <a:pPr indent="0" marL="0">
              <a:buNone/>
            </a:pPr>
            <a:r>
              <a:rPr lang="en-US" sz="1200" dirty="0">
                <a:solidFill>
                  <a:schemeClr val="accent6"/>
                </a:solidFill>
              </a:rPr>
              <a:t>training images, no labels</a:t>
            </a:r>
            <a:endParaRPr lang="en-US" sz="1200" dirty="0"/>
          </a:p>
        </p:txBody>
      </p:sp>
      <p:sp>
        <p:nvSpPr>
          <p:cNvPr id="41" name="Shape 39"/>
          <p:cNvSpPr/>
          <p:nvPr/>
        </p:nvSpPr>
        <p:spPr>
          <a:xfrm>
            <a:off x="6858000" y="4069080"/>
            <a:ext cx="4754880" cy="2103120"/>
          </a:xfrm>
          <a:prstGeom prst="roundRect">
            <a:avLst>
              <a:gd name="adj" fmla="val 3478"/>
            </a:avLst>
          </a:prstGeom>
          <a:solidFill>
            <a:schemeClr val="bg2"/>
          </a:solidFill>
          <a:ln w="9525">
            <a:solidFill>
              <a:srgbClr val="D5DAE0"/>
            </a:solidFill>
            <a:prstDash val="solid"/>
          </a:ln>
        </p:spPr>
      </p:sp>
      <p:sp>
        <p:nvSpPr>
          <p:cNvPr id="42" name="Text 40"/>
          <p:cNvSpPr txBox="1"/>
          <p:nvPr/>
        </p:nvSpPr>
        <p:spPr>
          <a:xfrm>
            <a:off x="7040880" y="4160520"/>
            <a:ext cx="4434840" cy="1920240"/>
          </a:xfrm>
          <a:prstGeom prst="rect">
            <a:avLst/>
          </a:prstGeom>
          <a:noFill/>
          <a:ln/>
        </p:spPr>
        <p:txBody>
          <a:bodyPr wrap="square" lIns="0" tIns="0" rIns="0" bIns="0" rtlCol="0" anchor="t"/>
          <a:lstStyle/>
          <a:p>
            <a:pPr indent="0" marL="0">
              <a:spcAft>
                <a:spcPts val="300"/>
              </a:spcAft>
              <a:buNone/>
            </a:pPr>
            <a:r>
              <a:rPr lang="en-US" sz="1300" b="1" dirty="0">
                <a:solidFill>
                  <a:schemeClr val="accent3"/>
                </a:solidFill>
              </a:rPr>
              <a:t>Advantages</a:t>
            </a:r>
            <a:endParaRPr lang="en-US" sz="1300" dirty="0"/>
          </a:p>
          <a:p>
            <a:pPr marL="342900" indent="-342900">
              <a:spcAft>
                <a:spcPts val="300"/>
              </a:spcAft>
              <a:buSzPct val="100000"/>
              <a:buChar char="•"/>
            </a:pPr>
            <a:r>
              <a:rPr lang="en-US" sz="1300" dirty="0">
                <a:solidFill>
                  <a:schemeClr val="tx1"/>
                </a:solidFill>
              </a:rPr>
              <a:t>Best features with the backbone frozen</a:t>
            </a:r>
            <a:endParaRPr lang="en-US" sz="1300" dirty="0"/>
          </a:p>
          <a:p>
            <a:pPr marL="342900" indent="-342900">
              <a:spcAft>
                <a:spcPts val="300"/>
              </a:spcAft>
              <a:buSzPct val="100000"/>
              <a:buChar char="•"/>
            </a:pPr>
            <a:r>
              <a:rPr lang="en-US" sz="1300" dirty="0">
                <a:solidFill>
                  <a:schemeClr val="tx1"/>
                </a:solidFill>
              </a:rPr>
              <a:t>Global context from the first block</a:t>
            </a:r>
            <a:endParaRPr lang="en-US" sz="1300" dirty="0"/>
          </a:p>
          <a:p>
            <a:pPr indent="0" marL="0">
              <a:spcAft>
                <a:spcPts val="300"/>
              </a:spcAft>
              <a:buNone/>
            </a:pPr>
            <a:r>
              <a:rPr lang="en-US" sz="1300" b="1" dirty="0">
                <a:solidFill>
                  <a:schemeClr val="accent4"/>
                </a:solidFill>
              </a:rPr>
              <a:t>Disadvantages</a:t>
            </a:r>
            <a:endParaRPr lang="en-US" sz="1300" dirty="0"/>
          </a:p>
          <a:p>
            <a:pPr marL="342900" indent="-342900">
              <a:spcAft>
                <a:spcPts val="300"/>
              </a:spcAft>
              <a:buSzPct val="100000"/>
              <a:buChar char="•"/>
            </a:pPr>
            <a:r>
              <a:rPr lang="en-US" sz="1300" dirty="0">
                <a:solidFill>
                  <a:schemeClr val="tx1"/>
                </a:solidFill>
              </a:rPr>
              <a:t>About 900 ms per frame on CPU</a:t>
            </a:r>
            <a:endParaRPr lang="en-US" sz="1300" dirty="0"/>
          </a:p>
          <a:p>
            <a:pPr marL="342900" indent="-342900">
              <a:spcAft>
                <a:spcPts val="300"/>
              </a:spcAft>
              <a:buSzPct val="100000"/>
              <a:buChar char="•"/>
            </a:pPr>
            <a:r>
              <a:rPr lang="en-US" sz="1300" dirty="0">
                <a:solidFill>
                  <a:schemeClr val="tx1"/>
                </a:solidFill>
              </a:rPr>
              <a:t>One scale only; cost grows fast with image size</a:t>
            </a:r>
            <a:endParaRPr lang="en-US" sz="1300" dirty="0"/>
          </a:p>
        </p:txBody>
      </p:sp>
      <p:sp>
        <p:nvSpPr>
          <p:cNvPr id="43" name="Text 41"/>
          <p:cNvSpPr txBox="1"/>
          <p:nvPr/>
        </p:nvSpPr>
        <p:spPr>
          <a:xfrm>
            <a:off x="548640" y="5577840"/>
            <a:ext cx="6035040" cy="548640"/>
          </a:xfrm>
          <a:prstGeom prst="rect">
            <a:avLst/>
          </a:prstGeom>
          <a:noFill/>
          <a:ln/>
        </p:spPr>
        <p:txBody>
          <a:bodyPr wrap="square" lIns="0" tIns="0" rIns="0" bIns="0" rtlCol="0" anchor="t"/>
          <a:lstStyle/>
          <a:p>
            <a:pPr indent="0" marL="0">
              <a:buNone/>
            </a:pPr>
            <a:r>
              <a:rPr lang="en-US" sz="1300" dirty="0">
                <a:solidFill>
                  <a:schemeClr val="accent6"/>
                </a:solidFill>
              </a:rPr>
              <a:t>Our training: backbone frozen; blocks 6, 9, 10 and 12 feed the pyramid.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Inside MobileNetV3-Large and ResNet-18</a:t>
            </a:r>
            <a:endParaRPr lang="en-US" sz="3000" dirty="0"/>
          </a:p>
        </p:txBody>
      </p:sp>
      <p:sp>
        <p:nvSpPr>
          <p:cNvPr id="3" name="Text 1"/>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600" b="1" dirty="0">
                <a:solidFill>
                  <a:schemeClr val="accent3"/>
                </a:solidFill>
              </a:rPr>
              <a:t>MobileNetV3-Large:  2.95M parameters, 15 inverted-residual blocks, 62 convolutions</a:t>
            </a:r>
            <a:endParaRPr lang="en-US" sz="1600" dirty="0"/>
          </a:p>
        </p:txBody>
      </p:sp>
      <p:sp>
        <p:nvSpPr>
          <p:cNvPr id="4" name="Shape 2"/>
          <p:cNvSpPr/>
          <p:nvPr/>
        </p:nvSpPr>
        <p:spPr>
          <a:xfrm>
            <a:off x="548640" y="1645920"/>
            <a:ext cx="1046480" cy="1051560"/>
          </a:xfrm>
          <a:prstGeom prst="roundRect">
            <a:avLst>
              <a:gd name="adj" fmla="val 5243"/>
            </a:avLst>
          </a:prstGeom>
          <a:solidFill>
            <a:schemeClr val="bg1"/>
          </a:solidFill>
          <a:ln w="19050">
            <a:solidFill>
              <a:srgbClr val="5B6670"/>
            </a:solidFill>
            <a:prstDash val="solid"/>
          </a:ln>
        </p:spPr>
      </p:sp>
      <p:sp>
        <p:nvSpPr>
          <p:cNvPr id="5" name="Text 3"/>
          <p:cNvSpPr txBox="1"/>
          <p:nvPr/>
        </p:nvSpPr>
        <p:spPr>
          <a:xfrm>
            <a:off x="594360" y="1645920"/>
            <a:ext cx="955040" cy="1051560"/>
          </a:xfrm>
          <a:prstGeom prst="rect">
            <a:avLst/>
          </a:prstGeom>
          <a:noFill/>
          <a:ln/>
        </p:spPr>
        <p:txBody>
          <a:bodyPr wrap="square" lIns="0" tIns="0" rIns="0" bIns="0" rtlCol="0" anchor="ctr"/>
          <a:lstStyle/>
          <a:p>
            <a:pPr algn="ctr" indent="0" marL="0">
              <a:buNone/>
            </a:pPr>
            <a:r>
              <a:rPr lang="en-US" sz="1300" b="1" dirty="0">
                <a:solidFill>
                  <a:schemeClr val="tx1"/>
                </a:solidFill>
              </a:rPr>
              <a:t>Input</a:t>
            </a:r>
            <a:endParaRPr lang="en-US" sz="1300" dirty="0"/>
          </a:p>
          <a:p>
            <a:pPr algn="ctr" indent="0" marL="0">
              <a:buNone/>
            </a:pPr>
            <a:r>
              <a:rPr lang="en-US" sz="1100" dirty="0">
                <a:solidFill>
                  <a:schemeClr val="accent6"/>
                </a:solidFill>
              </a:rPr>
              <a:t>640 x 640</a:t>
            </a:r>
            <a:endParaRPr lang="en-US" sz="1300" dirty="0"/>
          </a:p>
        </p:txBody>
      </p:sp>
      <p:sp>
        <p:nvSpPr>
          <p:cNvPr id="6" name="Shape 4"/>
          <p:cNvSpPr/>
          <p:nvPr/>
        </p:nvSpPr>
        <p:spPr>
          <a:xfrm>
            <a:off x="1622552" y="2171700"/>
            <a:ext cx="219456" cy="0"/>
          </a:xfrm>
          <a:prstGeom prst="line">
            <a:avLst/>
          </a:prstGeom>
          <a:noFill/>
          <a:ln w="19050">
            <a:solidFill>
              <a:srgbClr val="5B6670"/>
            </a:solidFill>
            <a:prstDash val="solid"/>
            <a:tailEnd type="triangle"/>
          </a:ln>
        </p:spPr>
      </p:sp>
      <p:sp>
        <p:nvSpPr>
          <p:cNvPr id="7" name="Shape 5"/>
          <p:cNvSpPr/>
          <p:nvPr/>
        </p:nvSpPr>
        <p:spPr>
          <a:xfrm>
            <a:off x="1869440" y="1645920"/>
            <a:ext cx="1195977" cy="1051560"/>
          </a:xfrm>
          <a:prstGeom prst="roundRect">
            <a:avLst>
              <a:gd name="adj" fmla="val 5217"/>
            </a:avLst>
          </a:prstGeom>
          <a:solidFill>
            <a:schemeClr val="bg2"/>
          </a:solidFill>
          <a:ln w="19050">
            <a:solidFill>
              <a:srgbClr val="2E7D32"/>
            </a:solidFill>
            <a:prstDash val="solid"/>
          </a:ln>
        </p:spPr>
      </p:sp>
      <p:sp>
        <p:nvSpPr>
          <p:cNvPr id="8" name="Text 6"/>
          <p:cNvSpPr txBox="1"/>
          <p:nvPr/>
        </p:nvSpPr>
        <p:spPr>
          <a:xfrm>
            <a:off x="1915160" y="1645920"/>
            <a:ext cx="1104537" cy="1051560"/>
          </a:xfrm>
          <a:prstGeom prst="rect">
            <a:avLst/>
          </a:prstGeom>
          <a:noFill/>
          <a:ln/>
        </p:spPr>
        <p:txBody>
          <a:bodyPr wrap="square" lIns="0" tIns="0" rIns="0" bIns="0" rtlCol="0" anchor="ctr"/>
          <a:lstStyle/>
          <a:p>
            <a:pPr algn="ctr" indent="0" marL="0">
              <a:buNone/>
            </a:pPr>
            <a:r>
              <a:rPr lang="en-US" sz="1300" b="1" dirty="0">
                <a:solidFill>
                  <a:schemeClr val="tx1"/>
                </a:solidFill>
              </a:rPr>
              <a:t>Stem</a:t>
            </a:r>
            <a:endParaRPr lang="en-US" sz="1300" dirty="0"/>
          </a:p>
          <a:p>
            <a:pPr algn="ctr" indent="0" marL="0">
              <a:buNone/>
            </a:pPr>
            <a:r>
              <a:rPr lang="en-US" sz="1100" dirty="0">
                <a:solidFill>
                  <a:schemeClr val="accent6"/>
                </a:solidFill>
              </a:rPr>
              <a:t>3x3 conv</a:t>
            </a:r>
            <a:endParaRPr lang="en-US" sz="1300" dirty="0"/>
          </a:p>
          <a:p>
            <a:pPr algn="ctr" indent="0" marL="0">
              <a:buNone/>
            </a:pPr>
            <a:r>
              <a:rPr lang="en-US" sz="1100" dirty="0">
                <a:solidFill>
                  <a:schemeClr val="accent6"/>
                </a:solidFill>
              </a:rPr>
              <a:t>16 ch</a:t>
            </a:r>
            <a:endParaRPr lang="en-US" sz="1300" dirty="0"/>
          </a:p>
        </p:txBody>
      </p:sp>
      <p:sp>
        <p:nvSpPr>
          <p:cNvPr id="9" name="Shape 7"/>
          <p:cNvSpPr/>
          <p:nvPr/>
        </p:nvSpPr>
        <p:spPr>
          <a:xfrm>
            <a:off x="3092849" y="2171700"/>
            <a:ext cx="219456" cy="0"/>
          </a:xfrm>
          <a:prstGeom prst="line">
            <a:avLst/>
          </a:prstGeom>
          <a:noFill/>
          <a:ln w="19050">
            <a:solidFill>
              <a:srgbClr val="5B6670"/>
            </a:solidFill>
            <a:prstDash val="solid"/>
            <a:tailEnd type="triangle"/>
          </a:ln>
        </p:spPr>
      </p:sp>
      <p:sp>
        <p:nvSpPr>
          <p:cNvPr id="10" name="Shape 8"/>
          <p:cNvSpPr/>
          <p:nvPr/>
        </p:nvSpPr>
        <p:spPr>
          <a:xfrm>
            <a:off x="3339737" y="1645920"/>
            <a:ext cx="1494971" cy="1051560"/>
          </a:xfrm>
          <a:prstGeom prst="roundRect">
            <a:avLst>
              <a:gd name="adj" fmla="val 5217"/>
            </a:avLst>
          </a:prstGeom>
          <a:solidFill>
            <a:schemeClr val="bg2"/>
          </a:solidFill>
          <a:ln w="19050">
            <a:solidFill>
              <a:srgbClr val="2E7D32"/>
            </a:solidFill>
            <a:prstDash val="solid"/>
          </a:ln>
        </p:spPr>
      </p:sp>
      <p:sp>
        <p:nvSpPr>
          <p:cNvPr id="11" name="Text 9"/>
          <p:cNvSpPr txBox="1"/>
          <p:nvPr/>
        </p:nvSpPr>
        <p:spPr>
          <a:xfrm>
            <a:off x="3385457" y="1645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Stages 1-2</a:t>
            </a:r>
            <a:endParaRPr lang="en-US" sz="1300" dirty="0"/>
          </a:p>
          <a:p>
            <a:pPr algn="ctr" indent="0" marL="0">
              <a:buNone/>
            </a:pPr>
            <a:r>
              <a:rPr lang="en-US" sz="1100" dirty="0">
                <a:solidFill>
                  <a:schemeClr val="accent6"/>
                </a:solidFill>
              </a:rPr>
              <a:t>3 blocks</a:t>
            </a:r>
            <a:endParaRPr lang="en-US" sz="1300" dirty="0"/>
          </a:p>
          <a:p>
            <a:pPr algn="ctr" indent="0" marL="0">
              <a:buNone/>
            </a:pPr>
            <a:r>
              <a:rPr lang="en-US" sz="1100" dirty="0">
                <a:solidFill>
                  <a:schemeClr val="accent6"/>
                </a:solidFill>
              </a:rPr>
              <a:t>24 ch, 160x160</a:t>
            </a:r>
            <a:endParaRPr lang="en-US" sz="1300" dirty="0"/>
          </a:p>
        </p:txBody>
      </p:sp>
      <p:sp>
        <p:nvSpPr>
          <p:cNvPr id="12" name="Shape 10"/>
          <p:cNvSpPr/>
          <p:nvPr/>
        </p:nvSpPr>
        <p:spPr>
          <a:xfrm>
            <a:off x="4862141" y="2171700"/>
            <a:ext cx="219456" cy="0"/>
          </a:xfrm>
          <a:prstGeom prst="line">
            <a:avLst/>
          </a:prstGeom>
          <a:noFill/>
          <a:ln w="19050">
            <a:solidFill>
              <a:srgbClr val="5B6670"/>
            </a:solidFill>
            <a:prstDash val="solid"/>
            <a:tailEnd type="triangle"/>
          </a:ln>
        </p:spPr>
      </p:sp>
      <p:sp>
        <p:nvSpPr>
          <p:cNvPr id="13" name="Shape 11"/>
          <p:cNvSpPr/>
          <p:nvPr/>
        </p:nvSpPr>
        <p:spPr>
          <a:xfrm>
            <a:off x="5109029" y="1645920"/>
            <a:ext cx="1494971" cy="1051560"/>
          </a:xfrm>
          <a:prstGeom prst="roundRect">
            <a:avLst>
              <a:gd name="adj" fmla="val 5217"/>
            </a:avLst>
          </a:prstGeom>
          <a:solidFill>
            <a:schemeClr val="bg2"/>
          </a:solidFill>
          <a:ln w="19050">
            <a:solidFill>
              <a:srgbClr val="2E7D32"/>
            </a:solidFill>
            <a:prstDash val="solid"/>
          </a:ln>
        </p:spPr>
      </p:sp>
      <p:sp>
        <p:nvSpPr>
          <p:cNvPr id="14" name="Text 12"/>
          <p:cNvSpPr txBox="1"/>
          <p:nvPr/>
        </p:nvSpPr>
        <p:spPr>
          <a:xfrm>
            <a:off x="5154749" y="1645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Stage 3</a:t>
            </a:r>
            <a:endParaRPr lang="en-US" sz="1300" dirty="0"/>
          </a:p>
          <a:p>
            <a:pPr algn="ctr" indent="0" marL="0">
              <a:buNone/>
            </a:pPr>
            <a:r>
              <a:rPr lang="en-US" sz="1100" dirty="0">
                <a:solidFill>
                  <a:schemeClr val="accent6"/>
                </a:solidFill>
              </a:rPr>
              <a:t>3 blocks</a:t>
            </a:r>
            <a:endParaRPr lang="en-US" sz="1300" dirty="0"/>
          </a:p>
          <a:p>
            <a:pPr algn="ctr" indent="0" marL="0">
              <a:buNone/>
            </a:pPr>
            <a:r>
              <a:rPr lang="en-US" sz="1100" dirty="0">
                <a:solidFill>
                  <a:schemeClr val="accent6"/>
                </a:solidFill>
              </a:rPr>
              <a:t>40 ch, 80x80</a:t>
            </a:r>
            <a:endParaRPr lang="en-US" sz="1300" dirty="0"/>
          </a:p>
        </p:txBody>
      </p:sp>
      <p:sp>
        <p:nvSpPr>
          <p:cNvPr id="15" name="Shape 13"/>
          <p:cNvSpPr/>
          <p:nvPr/>
        </p:nvSpPr>
        <p:spPr>
          <a:xfrm>
            <a:off x="6631432" y="2171700"/>
            <a:ext cx="219456" cy="0"/>
          </a:xfrm>
          <a:prstGeom prst="line">
            <a:avLst/>
          </a:prstGeom>
          <a:noFill/>
          <a:ln w="19050">
            <a:solidFill>
              <a:srgbClr val="5B6670"/>
            </a:solidFill>
            <a:prstDash val="solid"/>
            <a:tailEnd type="triangle"/>
          </a:ln>
        </p:spPr>
      </p:sp>
      <p:sp>
        <p:nvSpPr>
          <p:cNvPr id="16" name="Shape 14"/>
          <p:cNvSpPr/>
          <p:nvPr/>
        </p:nvSpPr>
        <p:spPr>
          <a:xfrm>
            <a:off x="6878320" y="1645920"/>
            <a:ext cx="1494971" cy="1051560"/>
          </a:xfrm>
          <a:prstGeom prst="roundRect">
            <a:avLst>
              <a:gd name="adj" fmla="val 5217"/>
            </a:avLst>
          </a:prstGeom>
          <a:solidFill>
            <a:schemeClr val="bg2"/>
          </a:solidFill>
          <a:ln w="19050">
            <a:solidFill>
              <a:srgbClr val="2E7D32"/>
            </a:solidFill>
            <a:prstDash val="solid"/>
          </a:ln>
        </p:spPr>
      </p:sp>
      <p:sp>
        <p:nvSpPr>
          <p:cNvPr id="17" name="Text 15"/>
          <p:cNvSpPr txBox="1"/>
          <p:nvPr/>
        </p:nvSpPr>
        <p:spPr>
          <a:xfrm>
            <a:off x="6924040" y="1645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Stages 4-5</a:t>
            </a:r>
            <a:endParaRPr lang="en-US" sz="1300" dirty="0"/>
          </a:p>
          <a:p>
            <a:pPr algn="ctr" indent="0" marL="0">
              <a:buNone/>
            </a:pPr>
            <a:r>
              <a:rPr lang="en-US" sz="1100" dirty="0">
                <a:solidFill>
                  <a:schemeClr val="accent6"/>
                </a:solidFill>
              </a:rPr>
              <a:t>6 blocks</a:t>
            </a:r>
            <a:endParaRPr lang="en-US" sz="1300" dirty="0"/>
          </a:p>
          <a:p>
            <a:pPr algn="ctr" indent="0" marL="0">
              <a:buNone/>
            </a:pPr>
            <a:r>
              <a:rPr lang="en-US" sz="1100" dirty="0">
                <a:solidFill>
                  <a:schemeClr val="accent6"/>
                </a:solidFill>
              </a:rPr>
              <a:t>112 ch, 40x40</a:t>
            </a:r>
            <a:endParaRPr lang="en-US" sz="1300" dirty="0"/>
          </a:p>
        </p:txBody>
      </p:sp>
      <p:sp>
        <p:nvSpPr>
          <p:cNvPr id="18" name="Shape 16"/>
          <p:cNvSpPr/>
          <p:nvPr/>
        </p:nvSpPr>
        <p:spPr>
          <a:xfrm>
            <a:off x="8400723" y="2171700"/>
            <a:ext cx="219456" cy="0"/>
          </a:xfrm>
          <a:prstGeom prst="line">
            <a:avLst/>
          </a:prstGeom>
          <a:noFill/>
          <a:ln w="19050">
            <a:solidFill>
              <a:srgbClr val="5B6670"/>
            </a:solidFill>
            <a:prstDash val="solid"/>
            <a:tailEnd type="triangle"/>
          </a:ln>
        </p:spPr>
      </p:sp>
      <p:sp>
        <p:nvSpPr>
          <p:cNvPr id="19" name="Shape 17"/>
          <p:cNvSpPr/>
          <p:nvPr/>
        </p:nvSpPr>
        <p:spPr>
          <a:xfrm>
            <a:off x="8647611" y="1645920"/>
            <a:ext cx="1494971" cy="1051560"/>
          </a:xfrm>
          <a:prstGeom prst="roundRect">
            <a:avLst>
              <a:gd name="adj" fmla="val 5217"/>
            </a:avLst>
          </a:prstGeom>
          <a:solidFill>
            <a:schemeClr val="bg2"/>
          </a:solidFill>
          <a:ln w="19050">
            <a:solidFill>
              <a:srgbClr val="2E7D32"/>
            </a:solidFill>
            <a:prstDash val="solid"/>
          </a:ln>
        </p:spPr>
      </p:sp>
      <p:sp>
        <p:nvSpPr>
          <p:cNvPr id="20" name="Text 18"/>
          <p:cNvSpPr txBox="1"/>
          <p:nvPr/>
        </p:nvSpPr>
        <p:spPr>
          <a:xfrm>
            <a:off x="8693331" y="1645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Stages 6-7</a:t>
            </a:r>
            <a:endParaRPr lang="en-US" sz="1300" dirty="0"/>
          </a:p>
          <a:p>
            <a:pPr algn="ctr" indent="0" marL="0">
              <a:buNone/>
            </a:pPr>
            <a:r>
              <a:rPr lang="en-US" sz="1100" dirty="0">
                <a:solidFill>
                  <a:schemeClr val="accent6"/>
                </a:solidFill>
              </a:rPr>
              <a:t>3 blocks</a:t>
            </a:r>
            <a:endParaRPr lang="en-US" sz="1300" dirty="0"/>
          </a:p>
          <a:p>
            <a:pPr algn="ctr" indent="0" marL="0">
              <a:buNone/>
            </a:pPr>
            <a:r>
              <a:rPr lang="en-US" sz="1100" dirty="0">
                <a:solidFill>
                  <a:schemeClr val="accent6"/>
                </a:solidFill>
              </a:rPr>
              <a:t>960 ch, 20x20</a:t>
            </a:r>
            <a:endParaRPr lang="en-US" sz="1300" dirty="0"/>
          </a:p>
        </p:txBody>
      </p:sp>
      <p:sp>
        <p:nvSpPr>
          <p:cNvPr id="21" name="Shape 19"/>
          <p:cNvSpPr/>
          <p:nvPr/>
        </p:nvSpPr>
        <p:spPr>
          <a:xfrm>
            <a:off x="10170015" y="2171700"/>
            <a:ext cx="219456" cy="0"/>
          </a:xfrm>
          <a:prstGeom prst="line">
            <a:avLst/>
          </a:prstGeom>
          <a:noFill/>
          <a:ln w="19050">
            <a:solidFill>
              <a:srgbClr val="5B6670"/>
            </a:solidFill>
            <a:prstDash val="solid"/>
            <a:tailEnd type="triangle"/>
          </a:ln>
        </p:spPr>
      </p:sp>
      <p:sp>
        <p:nvSpPr>
          <p:cNvPr id="22" name="Shape 20"/>
          <p:cNvSpPr/>
          <p:nvPr/>
        </p:nvSpPr>
        <p:spPr>
          <a:xfrm>
            <a:off x="10416903" y="1645920"/>
            <a:ext cx="1195977" cy="1051560"/>
          </a:xfrm>
          <a:prstGeom prst="roundRect">
            <a:avLst>
              <a:gd name="adj" fmla="val 5217"/>
            </a:avLst>
          </a:prstGeom>
          <a:solidFill>
            <a:schemeClr val="bg1"/>
          </a:solidFill>
          <a:ln w="19050">
            <a:solidFill>
              <a:srgbClr val="5B6670"/>
            </a:solidFill>
            <a:prstDash val="solid"/>
          </a:ln>
        </p:spPr>
      </p:sp>
      <p:sp>
        <p:nvSpPr>
          <p:cNvPr id="23" name="Text 21"/>
          <p:cNvSpPr txBox="1"/>
          <p:nvPr/>
        </p:nvSpPr>
        <p:spPr>
          <a:xfrm>
            <a:off x="10462623" y="1645920"/>
            <a:ext cx="1104537" cy="1051560"/>
          </a:xfrm>
          <a:prstGeom prst="rect">
            <a:avLst/>
          </a:prstGeom>
          <a:noFill/>
          <a:ln/>
        </p:spPr>
        <p:txBody>
          <a:bodyPr wrap="square" lIns="0" tIns="0" rIns="0" bIns="0" rtlCol="0" anchor="ctr"/>
          <a:lstStyle/>
          <a:p>
            <a:pPr algn="ctr" indent="0" marL="0">
              <a:buNone/>
            </a:pPr>
            <a:r>
              <a:rPr lang="en-US" sz="1300" b="1" dirty="0">
                <a:solidFill>
                  <a:schemeClr val="tx1"/>
                </a:solidFill>
              </a:rPr>
              <a:t>Pyramid</a:t>
            </a:r>
            <a:endParaRPr lang="en-US" sz="1300" dirty="0"/>
          </a:p>
          <a:p>
            <a:pPr algn="ctr" indent="0" marL="0">
              <a:buNone/>
            </a:pPr>
            <a:r>
              <a:rPr lang="en-US" sz="1100" dirty="0">
                <a:solidFill>
                  <a:schemeClr val="accent6"/>
                </a:solidFill>
              </a:rPr>
              <a:t>FPN</a:t>
            </a:r>
            <a:endParaRPr lang="en-US" sz="1300" dirty="0"/>
          </a:p>
          <a:p>
            <a:pPr algn="ctr" indent="0" marL="0">
              <a:buNone/>
            </a:pPr>
            <a:r>
              <a:rPr lang="en-US" sz="1100" dirty="0">
                <a:solidFill>
                  <a:schemeClr val="accent6"/>
                </a:solidFill>
              </a:rPr>
              <a:t>4 levels</a:t>
            </a:r>
            <a:endParaRPr lang="en-US" sz="1300" dirty="0"/>
          </a:p>
        </p:txBody>
      </p:sp>
      <p:sp>
        <p:nvSpPr>
          <p:cNvPr id="24" name="Text 22"/>
          <p:cNvSpPr txBox="1"/>
          <p:nvPr/>
        </p:nvSpPr>
        <p:spPr>
          <a:xfrm>
            <a:off x="548640" y="2788920"/>
            <a:ext cx="11064240" cy="365760"/>
          </a:xfrm>
          <a:prstGeom prst="rect">
            <a:avLst/>
          </a:prstGeom>
          <a:noFill/>
          <a:ln/>
        </p:spPr>
        <p:txBody>
          <a:bodyPr wrap="square" lIns="0" tIns="0" rIns="0" bIns="0" rtlCol="0" anchor="ctr"/>
          <a:lstStyle/>
          <a:p>
            <a:pPr indent="0" marL="0">
              <a:buNone/>
            </a:pPr>
            <a:r>
              <a:rPr lang="en-US" sz="1300" dirty="0">
                <a:solidFill>
                  <a:schemeClr val="accent6"/>
                </a:solidFill>
              </a:rPr>
              <a:t>One block:  1x1 conv (expand)  &gt;  depthwise conv  &gt;  squeeze-and-excite  &gt;  1x1 conv (project)  &gt;  + skip.   Cheap by design: built for phones.</a:t>
            </a:r>
            <a:endParaRPr lang="en-US" sz="1300" dirty="0"/>
          </a:p>
        </p:txBody>
      </p:sp>
      <p:sp>
        <p:nvSpPr>
          <p:cNvPr id="25" name="Text 23"/>
          <p:cNvSpPr txBox="1"/>
          <p:nvPr/>
        </p:nvSpPr>
        <p:spPr>
          <a:xfrm>
            <a:off x="548640" y="3520440"/>
            <a:ext cx="11064240" cy="365760"/>
          </a:xfrm>
          <a:prstGeom prst="rect">
            <a:avLst/>
          </a:prstGeom>
          <a:noFill/>
          <a:ln/>
        </p:spPr>
        <p:txBody>
          <a:bodyPr wrap="square" lIns="0" tIns="0" rIns="0" bIns="0" rtlCol="0" anchor="ctr"/>
          <a:lstStyle/>
          <a:p>
            <a:pPr indent="0" marL="0">
              <a:buNone/>
            </a:pPr>
            <a:r>
              <a:rPr lang="en-US" sz="1600" b="1" dirty="0">
                <a:solidFill>
                  <a:schemeClr val="accent4"/>
                </a:solidFill>
              </a:rPr>
              <a:t>ResNet-18:  11.2M parameters, 8 residual blocks, 20 convolutions</a:t>
            </a:r>
            <a:endParaRPr lang="en-US" sz="1600" dirty="0"/>
          </a:p>
        </p:txBody>
      </p:sp>
      <p:sp>
        <p:nvSpPr>
          <p:cNvPr id="26" name="Shape 24"/>
          <p:cNvSpPr/>
          <p:nvPr/>
        </p:nvSpPr>
        <p:spPr>
          <a:xfrm>
            <a:off x="548640" y="3931920"/>
            <a:ext cx="1046480" cy="1051560"/>
          </a:xfrm>
          <a:prstGeom prst="roundRect">
            <a:avLst>
              <a:gd name="adj" fmla="val 5243"/>
            </a:avLst>
          </a:prstGeom>
          <a:solidFill>
            <a:schemeClr val="bg1"/>
          </a:solidFill>
          <a:ln w="19050">
            <a:solidFill>
              <a:srgbClr val="5B6670"/>
            </a:solidFill>
            <a:prstDash val="solid"/>
          </a:ln>
        </p:spPr>
      </p:sp>
      <p:sp>
        <p:nvSpPr>
          <p:cNvPr id="27" name="Text 25"/>
          <p:cNvSpPr txBox="1"/>
          <p:nvPr/>
        </p:nvSpPr>
        <p:spPr>
          <a:xfrm>
            <a:off x="594360" y="3931920"/>
            <a:ext cx="955040" cy="1051560"/>
          </a:xfrm>
          <a:prstGeom prst="rect">
            <a:avLst/>
          </a:prstGeom>
          <a:noFill/>
          <a:ln/>
        </p:spPr>
        <p:txBody>
          <a:bodyPr wrap="square" lIns="0" tIns="0" rIns="0" bIns="0" rtlCol="0" anchor="ctr"/>
          <a:lstStyle/>
          <a:p>
            <a:pPr algn="ctr" indent="0" marL="0">
              <a:buNone/>
            </a:pPr>
            <a:r>
              <a:rPr lang="en-US" sz="1300" b="1" dirty="0">
                <a:solidFill>
                  <a:schemeClr val="tx1"/>
                </a:solidFill>
              </a:rPr>
              <a:t>Input</a:t>
            </a:r>
            <a:endParaRPr lang="en-US" sz="1300" dirty="0"/>
          </a:p>
          <a:p>
            <a:pPr algn="ctr" indent="0" marL="0">
              <a:buNone/>
            </a:pPr>
            <a:r>
              <a:rPr lang="en-US" sz="1100" dirty="0">
                <a:solidFill>
                  <a:schemeClr val="accent6"/>
                </a:solidFill>
              </a:rPr>
              <a:t>640 x 640</a:t>
            </a:r>
            <a:endParaRPr lang="en-US" sz="1300" dirty="0"/>
          </a:p>
        </p:txBody>
      </p:sp>
      <p:sp>
        <p:nvSpPr>
          <p:cNvPr id="28" name="Shape 26"/>
          <p:cNvSpPr/>
          <p:nvPr/>
        </p:nvSpPr>
        <p:spPr>
          <a:xfrm>
            <a:off x="1622552" y="4457700"/>
            <a:ext cx="219456" cy="0"/>
          </a:xfrm>
          <a:prstGeom prst="line">
            <a:avLst/>
          </a:prstGeom>
          <a:noFill/>
          <a:ln w="19050">
            <a:solidFill>
              <a:srgbClr val="5B6670"/>
            </a:solidFill>
            <a:prstDash val="solid"/>
            <a:tailEnd type="triangle"/>
          </a:ln>
        </p:spPr>
      </p:sp>
      <p:sp>
        <p:nvSpPr>
          <p:cNvPr id="29" name="Shape 27"/>
          <p:cNvSpPr/>
          <p:nvPr/>
        </p:nvSpPr>
        <p:spPr>
          <a:xfrm>
            <a:off x="1869440" y="3931920"/>
            <a:ext cx="1195977" cy="1051560"/>
          </a:xfrm>
          <a:prstGeom prst="roundRect">
            <a:avLst>
              <a:gd name="adj" fmla="val 5217"/>
            </a:avLst>
          </a:prstGeom>
          <a:solidFill>
            <a:schemeClr val="bg2"/>
          </a:solidFill>
          <a:ln w="19050">
            <a:solidFill>
              <a:srgbClr val="C62828"/>
            </a:solidFill>
            <a:prstDash val="solid"/>
          </a:ln>
        </p:spPr>
      </p:sp>
      <p:sp>
        <p:nvSpPr>
          <p:cNvPr id="30" name="Text 28"/>
          <p:cNvSpPr txBox="1"/>
          <p:nvPr/>
        </p:nvSpPr>
        <p:spPr>
          <a:xfrm>
            <a:off x="1915160" y="3931920"/>
            <a:ext cx="1104537" cy="1051560"/>
          </a:xfrm>
          <a:prstGeom prst="rect">
            <a:avLst/>
          </a:prstGeom>
          <a:noFill/>
          <a:ln/>
        </p:spPr>
        <p:txBody>
          <a:bodyPr wrap="square" lIns="0" tIns="0" rIns="0" bIns="0" rtlCol="0" anchor="ctr"/>
          <a:lstStyle/>
          <a:p>
            <a:pPr algn="ctr" indent="0" marL="0">
              <a:buNone/>
            </a:pPr>
            <a:r>
              <a:rPr lang="en-US" sz="1300" b="1" dirty="0">
                <a:solidFill>
                  <a:schemeClr val="tx1"/>
                </a:solidFill>
              </a:rPr>
              <a:t>Stem</a:t>
            </a:r>
            <a:endParaRPr lang="en-US" sz="1300" dirty="0"/>
          </a:p>
          <a:p>
            <a:pPr algn="ctr" indent="0" marL="0">
              <a:buNone/>
            </a:pPr>
            <a:r>
              <a:rPr lang="en-US" sz="1100" dirty="0">
                <a:solidFill>
                  <a:schemeClr val="accent6"/>
                </a:solidFill>
              </a:rPr>
              <a:t>7x7 conv</a:t>
            </a:r>
            <a:endParaRPr lang="en-US" sz="1300" dirty="0"/>
          </a:p>
          <a:p>
            <a:pPr algn="ctr" indent="0" marL="0">
              <a:buNone/>
            </a:pPr>
            <a:r>
              <a:rPr lang="en-US" sz="1100" dirty="0">
                <a:solidFill>
                  <a:schemeClr val="accent6"/>
                </a:solidFill>
              </a:rPr>
              <a:t>+ max-pool</a:t>
            </a:r>
            <a:endParaRPr lang="en-US" sz="1300" dirty="0"/>
          </a:p>
        </p:txBody>
      </p:sp>
      <p:sp>
        <p:nvSpPr>
          <p:cNvPr id="31" name="Shape 29"/>
          <p:cNvSpPr/>
          <p:nvPr/>
        </p:nvSpPr>
        <p:spPr>
          <a:xfrm>
            <a:off x="3092849" y="4457700"/>
            <a:ext cx="219456" cy="0"/>
          </a:xfrm>
          <a:prstGeom prst="line">
            <a:avLst/>
          </a:prstGeom>
          <a:noFill/>
          <a:ln w="19050">
            <a:solidFill>
              <a:srgbClr val="5B6670"/>
            </a:solidFill>
            <a:prstDash val="solid"/>
            <a:tailEnd type="triangle"/>
          </a:ln>
        </p:spPr>
      </p:sp>
      <p:sp>
        <p:nvSpPr>
          <p:cNvPr id="32" name="Shape 30"/>
          <p:cNvSpPr/>
          <p:nvPr/>
        </p:nvSpPr>
        <p:spPr>
          <a:xfrm>
            <a:off x="3339737" y="3931920"/>
            <a:ext cx="1494971" cy="1051560"/>
          </a:xfrm>
          <a:prstGeom prst="roundRect">
            <a:avLst>
              <a:gd name="adj" fmla="val 5217"/>
            </a:avLst>
          </a:prstGeom>
          <a:solidFill>
            <a:schemeClr val="bg2"/>
          </a:solidFill>
          <a:ln w="19050">
            <a:solidFill>
              <a:srgbClr val="C62828"/>
            </a:solidFill>
            <a:prstDash val="solid"/>
          </a:ln>
        </p:spPr>
      </p:sp>
      <p:sp>
        <p:nvSpPr>
          <p:cNvPr id="33" name="Text 31"/>
          <p:cNvSpPr txBox="1"/>
          <p:nvPr/>
        </p:nvSpPr>
        <p:spPr>
          <a:xfrm>
            <a:off x="3385457" y="3931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layer1</a:t>
            </a:r>
            <a:endParaRPr lang="en-US" sz="1300" dirty="0"/>
          </a:p>
          <a:p>
            <a:pPr algn="ctr" indent="0" marL="0">
              <a:buNone/>
            </a:pPr>
            <a:r>
              <a:rPr lang="en-US" sz="1100" dirty="0">
                <a:solidFill>
                  <a:schemeClr val="accent6"/>
                </a:solidFill>
              </a:rPr>
              <a:t>2 blocks</a:t>
            </a:r>
            <a:endParaRPr lang="en-US" sz="1300" dirty="0"/>
          </a:p>
          <a:p>
            <a:pPr algn="ctr" indent="0" marL="0">
              <a:buNone/>
            </a:pPr>
            <a:r>
              <a:rPr lang="en-US" sz="1100" dirty="0">
                <a:solidFill>
                  <a:schemeClr val="accent6"/>
                </a:solidFill>
              </a:rPr>
              <a:t>64 ch, 160x160</a:t>
            </a:r>
            <a:endParaRPr lang="en-US" sz="1300" dirty="0"/>
          </a:p>
        </p:txBody>
      </p:sp>
      <p:sp>
        <p:nvSpPr>
          <p:cNvPr id="34" name="Shape 32"/>
          <p:cNvSpPr/>
          <p:nvPr/>
        </p:nvSpPr>
        <p:spPr>
          <a:xfrm>
            <a:off x="4862141" y="4457700"/>
            <a:ext cx="219456" cy="0"/>
          </a:xfrm>
          <a:prstGeom prst="line">
            <a:avLst/>
          </a:prstGeom>
          <a:noFill/>
          <a:ln w="19050">
            <a:solidFill>
              <a:srgbClr val="5B6670"/>
            </a:solidFill>
            <a:prstDash val="solid"/>
            <a:tailEnd type="triangle"/>
          </a:ln>
        </p:spPr>
      </p:sp>
      <p:sp>
        <p:nvSpPr>
          <p:cNvPr id="35" name="Shape 33"/>
          <p:cNvSpPr/>
          <p:nvPr/>
        </p:nvSpPr>
        <p:spPr>
          <a:xfrm>
            <a:off x="5109029" y="3931920"/>
            <a:ext cx="1494971" cy="1051560"/>
          </a:xfrm>
          <a:prstGeom prst="roundRect">
            <a:avLst>
              <a:gd name="adj" fmla="val 5217"/>
            </a:avLst>
          </a:prstGeom>
          <a:solidFill>
            <a:schemeClr val="bg2"/>
          </a:solidFill>
          <a:ln w="19050">
            <a:solidFill>
              <a:srgbClr val="C62828"/>
            </a:solidFill>
            <a:prstDash val="solid"/>
          </a:ln>
        </p:spPr>
      </p:sp>
      <p:sp>
        <p:nvSpPr>
          <p:cNvPr id="36" name="Text 34"/>
          <p:cNvSpPr txBox="1"/>
          <p:nvPr/>
        </p:nvSpPr>
        <p:spPr>
          <a:xfrm>
            <a:off x="5154749" y="3931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layer2</a:t>
            </a:r>
            <a:endParaRPr lang="en-US" sz="1300" dirty="0"/>
          </a:p>
          <a:p>
            <a:pPr algn="ctr" indent="0" marL="0">
              <a:buNone/>
            </a:pPr>
            <a:r>
              <a:rPr lang="en-US" sz="1100" dirty="0">
                <a:solidFill>
                  <a:schemeClr val="accent6"/>
                </a:solidFill>
              </a:rPr>
              <a:t>2 blocks</a:t>
            </a:r>
            <a:endParaRPr lang="en-US" sz="1300" dirty="0"/>
          </a:p>
          <a:p>
            <a:pPr algn="ctr" indent="0" marL="0">
              <a:buNone/>
            </a:pPr>
            <a:r>
              <a:rPr lang="en-US" sz="1100" dirty="0">
                <a:solidFill>
                  <a:schemeClr val="accent6"/>
                </a:solidFill>
              </a:rPr>
              <a:t>128 ch, 80x80</a:t>
            </a:r>
            <a:endParaRPr lang="en-US" sz="1300" dirty="0"/>
          </a:p>
        </p:txBody>
      </p:sp>
      <p:sp>
        <p:nvSpPr>
          <p:cNvPr id="37" name="Shape 35"/>
          <p:cNvSpPr/>
          <p:nvPr/>
        </p:nvSpPr>
        <p:spPr>
          <a:xfrm>
            <a:off x="6631432" y="4457700"/>
            <a:ext cx="219456" cy="0"/>
          </a:xfrm>
          <a:prstGeom prst="line">
            <a:avLst/>
          </a:prstGeom>
          <a:noFill/>
          <a:ln w="19050">
            <a:solidFill>
              <a:srgbClr val="5B6670"/>
            </a:solidFill>
            <a:prstDash val="solid"/>
            <a:tailEnd type="triangle"/>
          </a:ln>
        </p:spPr>
      </p:sp>
      <p:sp>
        <p:nvSpPr>
          <p:cNvPr id="38" name="Shape 36"/>
          <p:cNvSpPr/>
          <p:nvPr/>
        </p:nvSpPr>
        <p:spPr>
          <a:xfrm>
            <a:off x="6878320" y="3931920"/>
            <a:ext cx="1494971" cy="1051560"/>
          </a:xfrm>
          <a:prstGeom prst="roundRect">
            <a:avLst>
              <a:gd name="adj" fmla="val 5217"/>
            </a:avLst>
          </a:prstGeom>
          <a:solidFill>
            <a:schemeClr val="bg2"/>
          </a:solidFill>
          <a:ln w="19050">
            <a:solidFill>
              <a:srgbClr val="C62828"/>
            </a:solidFill>
            <a:prstDash val="solid"/>
          </a:ln>
        </p:spPr>
      </p:sp>
      <p:sp>
        <p:nvSpPr>
          <p:cNvPr id="39" name="Text 37"/>
          <p:cNvSpPr txBox="1"/>
          <p:nvPr/>
        </p:nvSpPr>
        <p:spPr>
          <a:xfrm>
            <a:off x="6924040" y="3931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layer3</a:t>
            </a:r>
            <a:endParaRPr lang="en-US" sz="1300" dirty="0"/>
          </a:p>
          <a:p>
            <a:pPr algn="ctr" indent="0" marL="0">
              <a:buNone/>
            </a:pPr>
            <a:r>
              <a:rPr lang="en-US" sz="1100" dirty="0">
                <a:solidFill>
                  <a:schemeClr val="accent6"/>
                </a:solidFill>
              </a:rPr>
              <a:t>2 blocks</a:t>
            </a:r>
            <a:endParaRPr lang="en-US" sz="1300" dirty="0"/>
          </a:p>
          <a:p>
            <a:pPr algn="ctr" indent="0" marL="0">
              <a:buNone/>
            </a:pPr>
            <a:r>
              <a:rPr lang="en-US" sz="1100" dirty="0">
                <a:solidFill>
                  <a:schemeClr val="accent6"/>
                </a:solidFill>
              </a:rPr>
              <a:t>256 ch, 40x40</a:t>
            </a:r>
            <a:endParaRPr lang="en-US" sz="1300" dirty="0"/>
          </a:p>
        </p:txBody>
      </p:sp>
      <p:sp>
        <p:nvSpPr>
          <p:cNvPr id="40" name="Shape 38"/>
          <p:cNvSpPr/>
          <p:nvPr/>
        </p:nvSpPr>
        <p:spPr>
          <a:xfrm>
            <a:off x="8400723" y="4457700"/>
            <a:ext cx="219456" cy="0"/>
          </a:xfrm>
          <a:prstGeom prst="line">
            <a:avLst/>
          </a:prstGeom>
          <a:noFill/>
          <a:ln w="19050">
            <a:solidFill>
              <a:srgbClr val="5B6670"/>
            </a:solidFill>
            <a:prstDash val="solid"/>
            <a:tailEnd type="triangle"/>
          </a:ln>
        </p:spPr>
      </p:sp>
      <p:sp>
        <p:nvSpPr>
          <p:cNvPr id="41" name="Shape 39"/>
          <p:cNvSpPr/>
          <p:nvPr/>
        </p:nvSpPr>
        <p:spPr>
          <a:xfrm>
            <a:off x="8647611" y="3931920"/>
            <a:ext cx="1494971" cy="1051560"/>
          </a:xfrm>
          <a:prstGeom prst="roundRect">
            <a:avLst>
              <a:gd name="adj" fmla="val 5217"/>
            </a:avLst>
          </a:prstGeom>
          <a:solidFill>
            <a:schemeClr val="bg2"/>
          </a:solidFill>
          <a:ln w="19050">
            <a:solidFill>
              <a:srgbClr val="C62828"/>
            </a:solidFill>
            <a:prstDash val="solid"/>
          </a:ln>
        </p:spPr>
      </p:sp>
      <p:sp>
        <p:nvSpPr>
          <p:cNvPr id="42" name="Text 40"/>
          <p:cNvSpPr txBox="1"/>
          <p:nvPr/>
        </p:nvSpPr>
        <p:spPr>
          <a:xfrm>
            <a:off x="8693331" y="3931920"/>
            <a:ext cx="1403531" cy="1051560"/>
          </a:xfrm>
          <a:prstGeom prst="rect">
            <a:avLst/>
          </a:prstGeom>
          <a:noFill/>
          <a:ln/>
        </p:spPr>
        <p:txBody>
          <a:bodyPr wrap="square" lIns="0" tIns="0" rIns="0" bIns="0" rtlCol="0" anchor="ctr"/>
          <a:lstStyle/>
          <a:p>
            <a:pPr algn="ctr" indent="0" marL="0">
              <a:buNone/>
            </a:pPr>
            <a:r>
              <a:rPr lang="en-US" sz="1300" b="1" dirty="0">
                <a:solidFill>
                  <a:schemeClr val="tx1"/>
                </a:solidFill>
              </a:rPr>
              <a:t>layer4</a:t>
            </a:r>
            <a:endParaRPr lang="en-US" sz="1300" dirty="0"/>
          </a:p>
          <a:p>
            <a:pPr algn="ctr" indent="0" marL="0">
              <a:buNone/>
            </a:pPr>
            <a:r>
              <a:rPr lang="en-US" sz="1100" dirty="0">
                <a:solidFill>
                  <a:schemeClr val="accent6"/>
                </a:solidFill>
              </a:rPr>
              <a:t>2 blocks</a:t>
            </a:r>
            <a:endParaRPr lang="en-US" sz="1300" dirty="0"/>
          </a:p>
          <a:p>
            <a:pPr algn="ctr" indent="0" marL="0">
              <a:buNone/>
            </a:pPr>
            <a:r>
              <a:rPr lang="en-US" sz="1100" dirty="0">
                <a:solidFill>
                  <a:schemeClr val="accent6"/>
                </a:solidFill>
              </a:rPr>
              <a:t>512 ch, 20x20</a:t>
            </a:r>
            <a:endParaRPr lang="en-US" sz="1300" dirty="0"/>
          </a:p>
        </p:txBody>
      </p:sp>
      <p:sp>
        <p:nvSpPr>
          <p:cNvPr id="43" name="Shape 41"/>
          <p:cNvSpPr/>
          <p:nvPr/>
        </p:nvSpPr>
        <p:spPr>
          <a:xfrm>
            <a:off x="10170015" y="4457700"/>
            <a:ext cx="219456" cy="0"/>
          </a:xfrm>
          <a:prstGeom prst="line">
            <a:avLst/>
          </a:prstGeom>
          <a:noFill/>
          <a:ln w="19050">
            <a:solidFill>
              <a:srgbClr val="5B6670"/>
            </a:solidFill>
            <a:prstDash val="solid"/>
            <a:tailEnd type="triangle"/>
          </a:ln>
        </p:spPr>
      </p:sp>
      <p:sp>
        <p:nvSpPr>
          <p:cNvPr id="44" name="Shape 42"/>
          <p:cNvSpPr/>
          <p:nvPr/>
        </p:nvSpPr>
        <p:spPr>
          <a:xfrm>
            <a:off x="10416903" y="3931920"/>
            <a:ext cx="1195977" cy="1051560"/>
          </a:xfrm>
          <a:prstGeom prst="roundRect">
            <a:avLst>
              <a:gd name="adj" fmla="val 5217"/>
            </a:avLst>
          </a:prstGeom>
          <a:solidFill>
            <a:schemeClr val="bg1"/>
          </a:solidFill>
          <a:ln w="19050">
            <a:solidFill>
              <a:srgbClr val="5B6670"/>
            </a:solidFill>
            <a:prstDash val="solid"/>
          </a:ln>
        </p:spPr>
      </p:sp>
      <p:sp>
        <p:nvSpPr>
          <p:cNvPr id="45" name="Text 43"/>
          <p:cNvSpPr txBox="1"/>
          <p:nvPr/>
        </p:nvSpPr>
        <p:spPr>
          <a:xfrm>
            <a:off x="10462623" y="3931920"/>
            <a:ext cx="1104537" cy="1051560"/>
          </a:xfrm>
          <a:prstGeom prst="rect">
            <a:avLst/>
          </a:prstGeom>
          <a:noFill/>
          <a:ln/>
        </p:spPr>
        <p:txBody>
          <a:bodyPr wrap="square" lIns="0" tIns="0" rIns="0" bIns="0" rtlCol="0" anchor="ctr"/>
          <a:lstStyle/>
          <a:p>
            <a:pPr algn="ctr" indent="0" marL="0">
              <a:buNone/>
            </a:pPr>
            <a:r>
              <a:rPr lang="en-US" sz="1300" b="1" dirty="0">
                <a:solidFill>
                  <a:schemeClr val="tx1"/>
                </a:solidFill>
              </a:rPr>
              <a:t>Pyramid</a:t>
            </a:r>
            <a:endParaRPr lang="en-US" sz="1300" dirty="0"/>
          </a:p>
          <a:p>
            <a:pPr algn="ctr" indent="0" marL="0">
              <a:buNone/>
            </a:pPr>
            <a:r>
              <a:rPr lang="en-US" sz="1100" dirty="0">
                <a:solidFill>
                  <a:schemeClr val="accent6"/>
                </a:solidFill>
              </a:rPr>
              <a:t>FPN</a:t>
            </a:r>
            <a:endParaRPr lang="en-US" sz="1300" dirty="0"/>
          </a:p>
          <a:p>
            <a:pPr algn="ctr" indent="0" marL="0">
              <a:buNone/>
            </a:pPr>
            <a:r>
              <a:rPr lang="en-US" sz="1100" dirty="0">
                <a:solidFill>
                  <a:schemeClr val="accent6"/>
                </a:solidFill>
              </a:rPr>
              <a:t>4 levels</a:t>
            </a:r>
            <a:endParaRPr lang="en-US" sz="1300" dirty="0"/>
          </a:p>
        </p:txBody>
      </p:sp>
      <p:sp>
        <p:nvSpPr>
          <p:cNvPr id="46" name="Text 44"/>
          <p:cNvSpPr txBox="1"/>
          <p:nvPr/>
        </p:nvSpPr>
        <p:spPr>
          <a:xfrm>
            <a:off x="548640" y="5074920"/>
            <a:ext cx="11064240" cy="365760"/>
          </a:xfrm>
          <a:prstGeom prst="rect">
            <a:avLst/>
          </a:prstGeom>
          <a:noFill/>
          <a:ln/>
        </p:spPr>
        <p:txBody>
          <a:bodyPr wrap="square" lIns="0" tIns="0" rIns="0" bIns="0" rtlCol="0" anchor="ctr"/>
          <a:lstStyle/>
          <a:p>
            <a:pPr indent="0" marL="0">
              <a:buNone/>
            </a:pPr>
            <a:r>
              <a:rPr lang="en-US" sz="1300" dirty="0">
                <a:solidFill>
                  <a:schemeClr val="accent6"/>
                </a:solidFill>
              </a:rPr>
              <a:t>One block:  3x3 conv + BatchNorm  &gt;  ReLU  &gt;  3x3 conv + BatchNorm  &gt;  + skip  &gt;  ReLU.   The skip connection is what made deep networks trainable.</a:t>
            </a:r>
            <a:endParaRPr lang="en-US" sz="1300" dirty="0"/>
          </a:p>
        </p:txBody>
      </p:sp>
      <p:sp>
        <p:nvSpPr>
          <p:cNvPr id="47" name="Text 45"/>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400" dirty="0">
                <a:solidFill>
                  <a:schemeClr val="tx1"/>
                </a:solidFill>
              </a:rPr>
              <a:t>Both: pretrained on ImageNet-1k with labels; frozen in stage 1; the 80x80, 40x40 and 20x20 maps feed a standard Feature Pyramid Network.</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Two detection heads: Faster R-CNN and FCOS</a:t>
            </a:r>
            <a:endParaRPr lang="en-US" sz="3000" dirty="0"/>
          </a:p>
        </p:txBody>
      </p:sp>
      <p:sp>
        <p:nvSpPr>
          <p:cNvPr id="3" name="Text 1"/>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600" b="1" dirty="0">
                <a:solidFill>
                  <a:schemeClr val="accent1"/>
                </a:solidFill>
              </a:rPr>
              <a:t>Faster R-CNN:  two stages, 14.5M parameters, 4 losses</a:t>
            </a:r>
            <a:endParaRPr lang="en-US" sz="1600" dirty="0"/>
          </a:p>
        </p:txBody>
      </p:sp>
      <p:sp>
        <p:nvSpPr>
          <p:cNvPr id="4" name="Shape 2"/>
          <p:cNvSpPr/>
          <p:nvPr/>
        </p:nvSpPr>
        <p:spPr>
          <a:xfrm>
            <a:off x="548640" y="1645920"/>
            <a:ext cx="1169801" cy="1051560"/>
          </a:xfrm>
          <a:prstGeom prst="roundRect">
            <a:avLst>
              <a:gd name="adj" fmla="val 5217"/>
            </a:avLst>
          </a:prstGeom>
          <a:solidFill>
            <a:schemeClr val="bg1"/>
          </a:solidFill>
          <a:ln w="19050">
            <a:solidFill>
              <a:srgbClr val="5B6670"/>
            </a:solidFill>
            <a:prstDash val="solid"/>
          </a:ln>
        </p:spPr>
      </p:sp>
      <p:sp>
        <p:nvSpPr>
          <p:cNvPr id="5" name="Text 3"/>
          <p:cNvSpPr txBox="1"/>
          <p:nvPr/>
        </p:nvSpPr>
        <p:spPr>
          <a:xfrm>
            <a:off x="594360" y="1645920"/>
            <a:ext cx="1078361" cy="1051560"/>
          </a:xfrm>
          <a:prstGeom prst="rect">
            <a:avLst/>
          </a:prstGeom>
          <a:noFill/>
          <a:ln/>
        </p:spPr>
        <p:txBody>
          <a:bodyPr wrap="square" lIns="0" tIns="0" rIns="0" bIns="0" rtlCol="0" anchor="ctr"/>
          <a:lstStyle/>
          <a:p>
            <a:pPr algn="ctr" indent="0" marL="0">
              <a:buNone/>
            </a:pPr>
            <a:r>
              <a:rPr lang="en-US" sz="1300" b="1" dirty="0">
                <a:solidFill>
                  <a:schemeClr val="tx1"/>
                </a:solidFill>
              </a:rPr>
              <a:t>Pyramid</a:t>
            </a:r>
            <a:endParaRPr lang="en-US" sz="1300" dirty="0"/>
          </a:p>
          <a:p>
            <a:pPr algn="ctr" indent="0" marL="0">
              <a:buNone/>
            </a:pPr>
            <a:r>
              <a:rPr lang="en-US" sz="1100" dirty="0">
                <a:solidFill>
                  <a:schemeClr val="accent6"/>
                </a:solidFill>
              </a:rPr>
              <a:t>4 levels</a:t>
            </a:r>
            <a:endParaRPr lang="en-US" sz="1300" dirty="0"/>
          </a:p>
        </p:txBody>
      </p:sp>
      <p:sp>
        <p:nvSpPr>
          <p:cNvPr id="6" name="Shape 4"/>
          <p:cNvSpPr/>
          <p:nvPr/>
        </p:nvSpPr>
        <p:spPr>
          <a:xfrm>
            <a:off x="1745873" y="2171700"/>
            <a:ext cx="219456" cy="0"/>
          </a:xfrm>
          <a:prstGeom prst="line">
            <a:avLst/>
          </a:prstGeom>
          <a:noFill/>
          <a:ln w="19050">
            <a:solidFill>
              <a:srgbClr val="5B6670"/>
            </a:solidFill>
            <a:prstDash val="solid"/>
            <a:tailEnd type="triangle"/>
          </a:ln>
        </p:spPr>
      </p:sp>
      <p:sp>
        <p:nvSpPr>
          <p:cNvPr id="7" name="Shape 5"/>
          <p:cNvSpPr/>
          <p:nvPr/>
        </p:nvSpPr>
        <p:spPr>
          <a:xfrm>
            <a:off x="1992761" y="1645920"/>
            <a:ext cx="2256046" cy="1051560"/>
          </a:xfrm>
          <a:prstGeom prst="roundRect">
            <a:avLst>
              <a:gd name="adj" fmla="val 5217"/>
            </a:avLst>
          </a:prstGeom>
          <a:solidFill>
            <a:schemeClr val="bg2"/>
          </a:solidFill>
          <a:ln w="19050">
            <a:solidFill>
              <a:srgbClr val="E4572E"/>
            </a:solidFill>
            <a:prstDash val="solid"/>
          </a:ln>
        </p:spPr>
      </p:sp>
      <p:sp>
        <p:nvSpPr>
          <p:cNvPr id="8" name="Text 6"/>
          <p:cNvSpPr txBox="1"/>
          <p:nvPr/>
        </p:nvSpPr>
        <p:spPr>
          <a:xfrm>
            <a:off x="2038481" y="1645920"/>
            <a:ext cx="2164606" cy="1051560"/>
          </a:xfrm>
          <a:prstGeom prst="rect">
            <a:avLst/>
          </a:prstGeom>
          <a:noFill/>
          <a:ln/>
        </p:spPr>
        <p:txBody>
          <a:bodyPr wrap="square" lIns="0" tIns="0" rIns="0" bIns="0" rtlCol="0" anchor="ctr"/>
          <a:lstStyle/>
          <a:p>
            <a:pPr algn="ctr" indent="0" marL="0">
              <a:buNone/>
            </a:pPr>
            <a:r>
              <a:rPr lang="en-US" sz="1300" b="1" dirty="0">
                <a:solidFill>
                  <a:schemeClr val="tx1"/>
                </a:solidFill>
              </a:rPr>
              <a:t>Stage 1: proposals</a:t>
            </a:r>
            <a:endParaRPr lang="en-US" sz="1300" dirty="0"/>
          </a:p>
          <a:p>
            <a:pPr algn="ctr" indent="0" marL="0">
              <a:buNone/>
            </a:pPr>
            <a:r>
              <a:rPr lang="en-US" sz="1100" dirty="0">
                <a:solidFill>
                  <a:schemeClr val="accent6"/>
                </a:solidFill>
              </a:rPr>
              <a:t>6 anchor boxes per location:</a:t>
            </a:r>
            <a:endParaRPr lang="en-US" sz="1300" dirty="0"/>
          </a:p>
          <a:p>
            <a:pPr algn="ctr" indent="0" marL="0">
              <a:buNone/>
            </a:pPr>
            <a:r>
              <a:rPr lang="en-US" sz="1100" dirty="0">
                <a:solidFill>
                  <a:schemeClr val="accent6"/>
                </a:solidFill>
              </a:rPr>
              <a:t>object or not?</a:t>
            </a:r>
            <a:endParaRPr lang="en-US" sz="1300" dirty="0"/>
          </a:p>
        </p:txBody>
      </p:sp>
      <p:sp>
        <p:nvSpPr>
          <p:cNvPr id="9" name="Shape 7"/>
          <p:cNvSpPr/>
          <p:nvPr/>
        </p:nvSpPr>
        <p:spPr>
          <a:xfrm>
            <a:off x="4276239" y="2171700"/>
            <a:ext cx="219456" cy="0"/>
          </a:xfrm>
          <a:prstGeom prst="line">
            <a:avLst/>
          </a:prstGeom>
          <a:noFill/>
          <a:ln w="19050">
            <a:solidFill>
              <a:srgbClr val="5B6670"/>
            </a:solidFill>
            <a:prstDash val="solid"/>
            <a:tailEnd type="triangle"/>
          </a:ln>
        </p:spPr>
      </p:sp>
      <p:sp>
        <p:nvSpPr>
          <p:cNvPr id="10" name="Shape 8"/>
          <p:cNvSpPr/>
          <p:nvPr/>
        </p:nvSpPr>
        <p:spPr>
          <a:xfrm>
            <a:off x="4523127" y="1645920"/>
            <a:ext cx="1504030" cy="1051560"/>
          </a:xfrm>
          <a:prstGeom prst="roundRect">
            <a:avLst>
              <a:gd name="adj" fmla="val 5217"/>
            </a:avLst>
          </a:prstGeom>
          <a:solidFill>
            <a:schemeClr val="bg1"/>
          </a:solidFill>
          <a:ln w="19050">
            <a:solidFill>
              <a:srgbClr val="5B6670"/>
            </a:solidFill>
            <a:prstDash val="solid"/>
          </a:ln>
        </p:spPr>
      </p:sp>
      <p:sp>
        <p:nvSpPr>
          <p:cNvPr id="11" name="Text 9"/>
          <p:cNvSpPr txBox="1"/>
          <p:nvPr/>
        </p:nvSpPr>
        <p:spPr>
          <a:xfrm>
            <a:off x="4568847" y="1645920"/>
            <a:ext cx="1412590" cy="1051560"/>
          </a:xfrm>
          <a:prstGeom prst="rect">
            <a:avLst/>
          </a:prstGeom>
          <a:noFill/>
          <a:ln/>
        </p:spPr>
        <p:txBody>
          <a:bodyPr wrap="square" lIns="0" tIns="0" rIns="0" bIns="0" rtlCol="0" anchor="ctr"/>
          <a:lstStyle/>
          <a:p>
            <a:pPr algn="ctr" indent="0" marL="0">
              <a:buNone/>
            </a:pPr>
            <a:r>
              <a:rPr lang="en-US" sz="1300" b="1" dirty="0">
                <a:solidFill>
                  <a:schemeClr val="tx1"/>
                </a:solidFill>
              </a:rPr>
              <a:t>~300 proposals</a:t>
            </a:r>
            <a:endParaRPr lang="en-US" sz="1300" dirty="0"/>
          </a:p>
          <a:p>
            <a:pPr algn="ctr" indent="0" marL="0">
              <a:buNone/>
            </a:pPr>
            <a:r>
              <a:rPr lang="en-US" sz="1100" dirty="0">
                <a:solidFill>
                  <a:schemeClr val="accent6"/>
                </a:solidFill>
              </a:rPr>
              <a:t>after NMS</a:t>
            </a:r>
            <a:endParaRPr lang="en-US" sz="1300" dirty="0"/>
          </a:p>
        </p:txBody>
      </p:sp>
      <p:sp>
        <p:nvSpPr>
          <p:cNvPr id="12" name="Shape 10"/>
          <p:cNvSpPr/>
          <p:nvPr/>
        </p:nvSpPr>
        <p:spPr>
          <a:xfrm>
            <a:off x="6054589" y="2171700"/>
            <a:ext cx="219456" cy="0"/>
          </a:xfrm>
          <a:prstGeom prst="line">
            <a:avLst/>
          </a:prstGeom>
          <a:noFill/>
          <a:ln w="19050">
            <a:solidFill>
              <a:srgbClr val="5B6670"/>
            </a:solidFill>
            <a:prstDash val="solid"/>
            <a:tailEnd type="triangle"/>
          </a:ln>
        </p:spPr>
      </p:sp>
      <p:sp>
        <p:nvSpPr>
          <p:cNvPr id="13" name="Shape 11"/>
          <p:cNvSpPr/>
          <p:nvPr/>
        </p:nvSpPr>
        <p:spPr>
          <a:xfrm>
            <a:off x="6301477" y="1645920"/>
            <a:ext cx="1504030" cy="1051560"/>
          </a:xfrm>
          <a:prstGeom prst="roundRect">
            <a:avLst>
              <a:gd name="adj" fmla="val 5217"/>
            </a:avLst>
          </a:prstGeom>
          <a:solidFill>
            <a:schemeClr val="bg2"/>
          </a:solidFill>
          <a:ln w="19050">
            <a:solidFill>
              <a:srgbClr val="E4572E"/>
            </a:solidFill>
            <a:prstDash val="solid"/>
          </a:ln>
        </p:spPr>
      </p:sp>
      <p:sp>
        <p:nvSpPr>
          <p:cNvPr id="14" name="Text 12"/>
          <p:cNvSpPr txBox="1"/>
          <p:nvPr/>
        </p:nvSpPr>
        <p:spPr>
          <a:xfrm>
            <a:off x="6347197" y="1645920"/>
            <a:ext cx="1412590" cy="1051560"/>
          </a:xfrm>
          <a:prstGeom prst="rect">
            <a:avLst/>
          </a:prstGeom>
          <a:noFill/>
          <a:ln/>
        </p:spPr>
        <p:txBody>
          <a:bodyPr wrap="square" lIns="0" tIns="0" rIns="0" bIns="0" rtlCol="0" anchor="ctr"/>
          <a:lstStyle/>
          <a:p>
            <a:pPr algn="ctr" indent="0" marL="0">
              <a:buNone/>
            </a:pPr>
            <a:r>
              <a:rPr lang="en-US" sz="1300" b="1" dirty="0">
                <a:solidFill>
                  <a:schemeClr val="tx1"/>
                </a:solidFill>
              </a:rPr>
              <a:t>RoIAlign</a:t>
            </a:r>
            <a:endParaRPr lang="en-US" sz="1300" dirty="0"/>
          </a:p>
          <a:p>
            <a:pPr algn="ctr" indent="0" marL="0">
              <a:buNone/>
            </a:pPr>
            <a:r>
              <a:rPr lang="en-US" sz="1100" dirty="0">
                <a:solidFill>
                  <a:schemeClr val="accent6"/>
                </a:solidFill>
              </a:rPr>
              <a:t>crop each to 7x7</a:t>
            </a:r>
            <a:endParaRPr lang="en-US" sz="1300" dirty="0"/>
          </a:p>
        </p:txBody>
      </p:sp>
      <p:sp>
        <p:nvSpPr>
          <p:cNvPr id="15" name="Shape 13"/>
          <p:cNvSpPr/>
          <p:nvPr/>
        </p:nvSpPr>
        <p:spPr>
          <a:xfrm>
            <a:off x="7832940" y="2171700"/>
            <a:ext cx="219456" cy="0"/>
          </a:xfrm>
          <a:prstGeom prst="line">
            <a:avLst/>
          </a:prstGeom>
          <a:noFill/>
          <a:ln w="19050">
            <a:solidFill>
              <a:srgbClr val="5B6670"/>
            </a:solidFill>
            <a:prstDash val="solid"/>
            <a:tailEnd type="triangle"/>
          </a:ln>
        </p:spPr>
      </p:sp>
      <p:sp>
        <p:nvSpPr>
          <p:cNvPr id="16" name="Shape 14"/>
          <p:cNvSpPr/>
          <p:nvPr/>
        </p:nvSpPr>
        <p:spPr>
          <a:xfrm>
            <a:off x="8079828" y="1645920"/>
            <a:ext cx="2005374" cy="1051560"/>
          </a:xfrm>
          <a:prstGeom prst="roundRect">
            <a:avLst>
              <a:gd name="adj" fmla="val 5217"/>
            </a:avLst>
          </a:prstGeom>
          <a:solidFill>
            <a:schemeClr val="bg2"/>
          </a:solidFill>
          <a:ln w="19050">
            <a:solidFill>
              <a:srgbClr val="E4572E"/>
            </a:solidFill>
            <a:prstDash val="solid"/>
          </a:ln>
        </p:spPr>
      </p:sp>
      <p:sp>
        <p:nvSpPr>
          <p:cNvPr id="17" name="Text 15"/>
          <p:cNvSpPr txBox="1"/>
          <p:nvPr/>
        </p:nvSpPr>
        <p:spPr>
          <a:xfrm>
            <a:off x="8125548" y="1645920"/>
            <a:ext cx="1913934" cy="1051560"/>
          </a:xfrm>
          <a:prstGeom prst="rect">
            <a:avLst/>
          </a:prstGeom>
          <a:noFill/>
          <a:ln/>
        </p:spPr>
        <p:txBody>
          <a:bodyPr wrap="square" lIns="0" tIns="0" rIns="0" bIns="0" rtlCol="0" anchor="ctr"/>
          <a:lstStyle/>
          <a:p>
            <a:pPr algn="ctr" indent="0" marL="0">
              <a:buNone/>
            </a:pPr>
            <a:r>
              <a:rPr lang="en-US" sz="1300" b="1" dirty="0">
                <a:solidFill>
                  <a:schemeClr val="tx1"/>
                </a:solidFill>
              </a:rPr>
              <a:t>Stage 2: box head</a:t>
            </a:r>
            <a:endParaRPr lang="en-US" sz="1300" dirty="0"/>
          </a:p>
          <a:p>
            <a:pPr algn="ctr" indent="0" marL="0">
              <a:buNone/>
            </a:pPr>
            <a:r>
              <a:rPr lang="en-US" sz="1100" dirty="0">
                <a:solidFill>
                  <a:schemeClr val="accent6"/>
                </a:solidFill>
              </a:rPr>
              <a:t>2 FC layers:</a:t>
            </a:r>
            <a:endParaRPr lang="en-US" sz="1300" dirty="0"/>
          </a:p>
          <a:p>
            <a:pPr algn="ctr" indent="0" marL="0">
              <a:buNone/>
            </a:pPr>
            <a:r>
              <a:rPr lang="en-US" sz="1100" dirty="0">
                <a:solidFill>
                  <a:schemeClr val="accent6"/>
                </a:solidFill>
              </a:rPr>
              <a:t>class + refined box</a:t>
            </a:r>
            <a:endParaRPr lang="en-US" sz="1300" dirty="0"/>
          </a:p>
        </p:txBody>
      </p:sp>
      <p:sp>
        <p:nvSpPr>
          <p:cNvPr id="18" name="Shape 16"/>
          <p:cNvSpPr/>
          <p:nvPr/>
        </p:nvSpPr>
        <p:spPr>
          <a:xfrm>
            <a:off x="10112633" y="2171700"/>
            <a:ext cx="219456" cy="0"/>
          </a:xfrm>
          <a:prstGeom prst="line">
            <a:avLst/>
          </a:prstGeom>
          <a:noFill/>
          <a:ln w="19050">
            <a:solidFill>
              <a:srgbClr val="5B6670"/>
            </a:solidFill>
            <a:prstDash val="solid"/>
            <a:tailEnd type="triangle"/>
          </a:ln>
        </p:spPr>
      </p:sp>
      <p:sp>
        <p:nvSpPr>
          <p:cNvPr id="19" name="Shape 17"/>
          <p:cNvSpPr/>
          <p:nvPr/>
        </p:nvSpPr>
        <p:spPr>
          <a:xfrm>
            <a:off x="10359521" y="1645920"/>
            <a:ext cx="1253359" cy="1051560"/>
          </a:xfrm>
          <a:prstGeom prst="roundRect">
            <a:avLst>
              <a:gd name="adj" fmla="val 5217"/>
            </a:avLst>
          </a:prstGeom>
          <a:solidFill>
            <a:schemeClr val="bg1"/>
          </a:solidFill>
          <a:ln w="19050">
            <a:solidFill>
              <a:srgbClr val="5B6670"/>
            </a:solidFill>
            <a:prstDash val="solid"/>
          </a:ln>
        </p:spPr>
      </p:sp>
      <p:sp>
        <p:nvSpPr>
          <p:cNvPr id="20" name="Text 18"/>
          <p:cNvSpPr txBox="1"/>
          <p:nvPr/>
        </p:nvSpPr>
        <p:spPr>
          <a:xfrm>
            <a:off x="10405241" y="1645920"/>
            <a:ext cx="1161919" cy="1051560"/>
          </a:xfrm>
          <a:prstGeom prst="rect">
            <a:avLst/>
          </a:prstGeom>
          <a:noFill/>
          <a:ln/>
        </p:spPr>
        <p:txBody>
          <a:bodyPr wrap="square" lIns="0" tIns="0" rIns="0" bIns="0" rtlCol="0" anchor="ctr"/>
          <a:lstStyle/>
          <a:p>
            <a:pPr algn="ctr" indent="0" marL="0">
              <a:buNone/>
            </a:pPr>
            <a:r>
              <a:rPr lang="en-US" sz="1300" b="1" dirty="0">
                <a:solidFill>
                  <a:schemeClr val="tx1"/>
                </a:solidFill>
              </a:rPr>
              <a:t>Output</a:t>
            </a:r>
            <a:endParaRPr lang="en-US" sz="1300" dirty="0"/>
          </a:p>
          <a:p>
            <a:pPr algn="ctr" indent="0" marL="0">
              <a:buNone/>
            </a:pPr>
            <a:r>
              <a:rPr lang="en-US" sz="1100" dirty="0">
                <a:solidFill>
                  <a:schemeClr val="accent6"/>
                </a:solidFill>
              </a:rPr>
              <a:t>boxes, class,</a:t>
            </a:r>
            <a:endParaRPr lang="en-US" sz="1300" dirty="0"/>
          </a:p>
          <a:p>
            <a:pPr algn="ctr" indent="0" marL="0">
              <a:buNone/>
            </a:pPr>
            <a:r>
              <a:rPr lang="en-US" sz="1100" dirty="0">
                <a:solidFill>
                  <a:schemeClr val="accent6"/>
                </a:solidFill>
              </a:rPr>
              <a:t>score</a:t>
            </a:r>
            <a:endParaRPr lang="en-US" sz="1300" dirty="0"/>
          </a:p>
        </p:txBody>
      </p:sp>
      <p:sp>
        <p:nvSpPr>
          <p:cNvPr id="21" name="Text 19"/>
          <p:cNvSpPr txBox="1"/>
          <p:nvPr/>
        </p:nvSpPr>
        <p:spPr>
          <a:xfrm>
            <a:off x="548640" y="2788920"/>
            <a:ext cx="11064240" cy="411480"/>
          </a:xfrm>
          <a:prstGeom prst="rect">
            <a:avLst/>
          </a:prstGeom>
          <a:noFill/>
          <a:ln/>
        </p:spPr>
        <p:txBody>
          <a:bodyPr wrap="square" lIns="0" tIns="0" rIns="0" bIns="0" rtlCol="0" anchor="ctr"/>
          <a:lstStyle/>
          <a:p>
            <a:pPr indent="0" marL="0">
              <a:buNone/>
            </a:pPr>
            <a:r>
              <a:rPr lang="en-US" sz="1300" b="1" dirty="0">
                <a:solidFill>
                  <a:schemeClr val="accent3"/>
                </a:solidFill>
              </a:rPr>
              <a:t>+ </a:t>
            </a:r>
            <a:pPr indent="0" marL="0">
              <a:buNone/>
            </a:pPr>
            <a:r>
              <a:rPr lang="en-US" sz="1300" dirty="0">
                <a:solidFill>
                  <a:schemeClr val="tx1"/>
                </a:solidFill>
              </a:rPr>
              <a:t>most accurate; clean scores, so a strict threshold (0.90) works      </a:t>
            </a:r>
            <a:pPr indent="0" marL="0">
              <a:buNone/>
            </a:pPr>
            <a:r>
              <a:rPr lang="en-US" sz="1300" b="1" dirty="0">
                <a:solidFill>
                  <a:schemeClr val="accent4"/>
                </a:solidFill>
              </a:rPr>
              <a:t>- </a:t>
            </a:r>
            <a:pPr indent="0" marL="0">
              <a:buNone/>
            </a:pPr>
            <a:r>
              <a:rPr lang="en-US" sz="1300" dirty="0">
                <a:solidFill>
                  <a:schemeClr val="tx1"/>
                </a:solidFill>
              </a:rPr>
              <a:t>large head; cannot be exported as one batch for many cameras</a:t>
            </a:r>
            <a:endParaRPr lang="en-US" sz="1300" dirty="0"/>
          </a:p>
        </p:txBody>
      </p:sp>
      <p:sp>
        <p:nvSpPr>
          <p:cNvPr id="22" name="Text 20"/>
          <p:cNvSpPr txBox="1"/>
          <p:nvPr/>
        </p:nvSpPr>
        <p:spPr>
          <a:xfrm>
            <a:off x="548640" y="3611880"/>
            <a:ext cx="11064240" cy="365760"/>
          </a:xfrm>
          <a:prstGeom prst="rect">
            <a:avLst/>
          </a:prstGeom>
          <a:noFill/>
          <a:ln/>
        </p:spPr>
        <p:txBody>
          <a:bodyPr wrap="square" lIns="0" tIns="0" rIns="0" bIns="0" rtlCol="0" anchor="ctr"/>
          <a:lstStyle/>
          <a:p>
            <a:pPr indent="0" marL="0">
              <a:buNone/>
            </a:pPr>
            <a:r>
              <a:rPr lang="en-US" sz="1600" b="1" dirty="0">
                <a:solidFill>
                  <a:schemeClr val="accent5"/>
                </a:solidFill>
              </a:rPr>
              <a:t>FCOS:  one stage, no anchors, 0.60M parameters, 3 losses</a:t>
            </a:r>
            <a:endParaRPr lang="en-US" sz="1600" dirty="0"/>
          </a:p>
        </p:txBody>
      </p:sp>
      <p:sp>
        <p:nvSpPr>
          <p:cNvPr id="23" name="Shape 21"/>
          <p:cNvSpPr/>
          <p:nvPr/>
        </p:nvSpPr>
        <p:spPr>
          <a:xfrm>
            <a:off x="548640" y="4023360"/>
            <a:ext cx="1449740" cy="1051560"/>
          </a:xfrm>
          <a:prstGeom prst="roundRect">
            <a:avLst>
              <a:gd name="adj" fmla="val 5217"/>
            </a:avLst>
          </a:prstGeom>
          <a:solidFill>
            <a:schemeClr val="bg1"/>
          </a:solidFill>
          <a:ln w="19050">
            <a:solidFill>
              <a:srgbClr val="5B6670"/>
            </a:solidFill>
            <a:prstDash val="solid"/>
          </a:ln>
        </p:spPr>
      </p:sp>
      <p:sp>
        <p:nvSpPr>
          <p:cNvPr id="24" name="Text 22"/>
          <p:cNvSpPr txBox="1"/>
          <p:nvPr/>
        </p:nvSpPr>
        <p:spPr>
          <a:xfrm>
            <a:off x="594360" y="4023360"/>
            <a:ext cx="1358300" cy="1051560"/>
          </a:xfrm>
          <a:prstGeom prst="rect">
            <a:avLst/>
          </a:prstGeom>
          <a:noFill/>
          <a:ln/>
        </p:spPr>
        <p:txBody>
          <a:bodyPr wrap="square" lIns="0" tIns="0" rIns="0" bIns="0" rtlCol="0" anchor="ctr"/>
          <a:lstStyle/>
          <a:p>
            <a:pPr algn="ctr" indent="0" marL="0">
              <a:buNone/>
            </a:pPr>
            <a:r>
              <a:rPr lang="en-US" sz="1300" b="1" dirty="0">
                <a:solidFill>
                  <a:schemeClr val="tx1"/>
                </a:solidFill>
              </a:rPr>
              <a:t>Pyramid</a:t>
            </a:r>
            <a:endParaRPr lang="en-US" sz="1300" dirty="0"/>
          </a:p>
          <a:p>
            <a:pPr algn="ctr" indent="0" marL="0">
              <a:buNone/>
            </a:pPr>
            <a:r>
              <a:rPr lang="en-US" sz="1100" dirty="0">
                <a:solidFill>
                  <a:schemeClr val="accent6"/>
                </a:solidFill>
              </a:rPr>
              <a:t>8,500 locations</a:t>
            </a:r>
            <a:endParaRPr lang="en-US" sz="1300" dirty="0"/>
          </a:p>
        </p:txBody>
      </p:sp>
      <p:sp>
        <p:nvSpPr>
          <p:cNvPr id="25" name="Shape 23"/>
          <p:cNvSpPr/>
          <p:nvPr/>
        </p:nvSpPr>
        <p:spPr>
          <a:xfrm>
            <a:off x="2025812" y="4549140"/>
            <a:ext cx="219456" cy="0"/>
          </a:xfrm>
          <a:prstGeom prst="line">
            <a:avLst/>
          </a:prstGeom>
          <a:noFill/>
          <a:ln w="19050">
            <a:solidFill>
              <a:srgbClr val="5B6670"/>
            </a:solidFill>
            <a:prstDash val="solid"/>
            <a:tailEnd type="triangle"/>
          </a:ln>
        </p:spPr>
      </p:sp>
      <p:sp>
        <p:nvSpPr>
          <p:cNvPr id="26" name="Shape 24"/>
          <p:cNvSpPr/>
          <p:nvPr/>
        </p:nvSpPr>
        <p:spPr>
          <a:xfrm>
            <a:off x="2272700" y="4023360"/>
            <a:ext cx="2174609" cy="1051560"/>
          </a:xfrm>
          <a:prstGeom prst="roundRect">
            <a:avLst>
              <a:gd name="adj" fmla="val 5217"/>
            </a:avLst>
          </a:prstGeom>
          <a:solidFill>
            <a:schemeClr val="bg2"/>
          </a:solidFill>
          <a:ln w="19050">
            <a:solidFill>
              <a:srgbClr val="EF6C00"/>
            </a:solidFill>
            <a:prstDash val="solid"/>
          </a:ln>
        </p:spPr>
      </p:sp>
      <p:sp>
        <p:nvSpPr>
          <p:cNvPr id="27" name="Text 25"/>
          <p:cNvSpPr txBox="1"/>
          <p:nvPr/>
        </p:nvSpPr>
        <p:spPr>
          <a:xfrm>
            <a:off x="2318420" y="4023360"/>
            <a:ext cx="2083169" cy="1051560"/>
          </a:xfrm>
          <a:prstGeom prst="rect">
            <a:avLst/>
          </a:prstGeom>
          <a:noFill/>
          <a:ln/>
        </p:spPr>
        <p:txBody>
          <a:bodyPr wrap="square" lIns="0" tIns="0" rIns="0" bIns="0" rtlCol="0" anchor="ctr"/>
          <a:lstStyle/>
          <a:p>
            <a:pPr algn="ctr" indent="0" marL="0">
              <a:buNone/>
            </a:pPr>
            <a:r>
              <a:rPr lang="en-US" sz="1300" b="1" dirty="0">
                <a:solidFill>
                  <a:schemeClr val="tx1"/>
                </a:solidFill>
              </a:rPr>
              <a:t>Two conv towers</a:t>
            </a:r>
            <a:endParaRPr lang="en-US" sz="1300" dirty="0"/>
          </a:p>
          <a:p>
            <a:pPr algn="ctr" indent="0" marL="0">
              <a:buNone/>
            </a:pPr>
            <a:r>
              <a:rPr lang="en-US" sz="1100" dirty="0">
                <a:solidFill>
                  <a:schemeClr val="accent6"/>
                </a:solidFill>
              </a:rPr>
              <a:t>classification tower</a:t>
            </a:r>
            <a:endParaRPr lang="en-US" sz="1300" dirty="0"/>
          </a:p>
          <a:p>
            <a:pPr algn="ctr" indent="0" marL="0">
              <a:buNone/>
            </a:pPr>
            <a:r>
              <a:rPr lang="en-US" sz="1100" dirty="0">
                <a:solidFill>
                  <a:schemeClr val="accent6"/>
                </a:solidFill>
              </a:rPr>
              <a:t>regression tower</a:t>
            </a:r>
            <a:endParaRPr lang="en-US" sz="1300" dirty="0"/>
          </a:p>
        </p:txBody>
      </p:sp>
      <p:sp>
        <p:nvSpPr>
          <p:cNvPr id="28" name="Shape 26"/>
          <p:cNvSpPr/>
          <p:nvPr/>
        </p:nvSpPr>
        <p:spPr>
          <a:xfrm>
            <a:off x="4474741" y="4549140"/>
            <a:ext cx="219456" cy="0"/>
          </a:xfrm>
          <a:prstGeom prst="line">
            <a:avLst/>
          </a:prstGeom>
          <a:noFill/>
          <a:ln w="19050">
            <a:solidFill>
              <a:srgbClr val="5B6670"/>
            </a:solidFill>
            <a:prstDash val="solid"/>
            <a:tailEnd type="triangle"/>
          </a:ln>
        </p:spPr>
      </p:sp>
      <p:sp>
        <p:nvSpPr>
          <p:cNvPr id="29" name="Shape 27"/>
          <p:cNvSpPr/>
          <p:nvPr/>
        </p:nvSpPr>
        <p:spPr>
          <a:xfrm>
            <a:off x="4721629" y="4023360"/>
            <a:ext cx="2718262" cy="1051560"/>
          </a:xfrm>
          <a:prstGeom prst="roundRect">
            <a:avLst>
              <a:gd name="adj" fmla="val 5217"/>
            </a:avLst>
          </a:prstGeom>
          <a:solidFill>
            <a:schemeClr val="bg2"/>
          </a:solidFill>
          <a:ln w="19050">
            <a:solidFill>
              <a:srgbClr val="EF6C00"/>
            </a:solidFill>
            <a:prstDash val="solid"/>
          </a:ln>
        </p:spPr>
      </p:sp>
      <p:sp>
        <p:nvSpPr>
          <p:cNvPr id="30" name="Text 28"/>
          <p:cNvSpPr txBox="1"/>
          <p:nvPr/>
        </p:nvSpPr>
        <p:spPr>
          <a:xfrm>
            <a:off x="4767349" y="4023360"/>
            <a:ext cx="2626822" cy="1051560"/>
          </a:xfrm>
          <a:prstGeom prst="rect">
            <a:avLst/>
          </a:prstGeom>
          <a:noFill/>
          <a:ln/>
        </p:spPr>
        <p:txBody>
          <a:bodyPr wrap="square" lIns="0" tIns="0" rIns="0" bIns="0" rtlCol="0" anchor="ctr"/>
          <a:lstStyle/>
          <a:p>
            <a:pPr algn="ctr" indent="0" marL="0">
              <a:buNone/>
            </a:pPr>
            <a:r>
              <a:rPr lang="en-US" sz="1300" b="1" dirty="0">
                <a:solidFill>
                  <a:schemeClr val="tx1"/>
                </a:solidFill>
              </a:rPr>
              <a:t>Every location predicts</a:t>
            </a:r>
            <a:endParaRPr lang="en-US" sz="1300" dirty="0"/>
          </a:p>
          <a:p>
            <a:pPr algn="ctr" indent="0" marL="0">
              <a:buNone/>
            </a:pPr>
            <a:r>
              <a:rPr lang="en-US" sz="1100" dirty="0">
                <a:solidFill>
                  <a:schemeClr val="accent6"/>
                </a:solidFill>
              </a:rPr>
              <a:t>class score, 4 box distances,</a:t>
            </a:r>
            <a:endParaRPr lang="en-US" sz="1300" dirty="0"/>
          </a:p>
          <a:p>
            <a:pPr algn="ctr" indent="0" marL="0">
              <a:buNone/>
            </a:pPr>
            <a:r>
              <a:rPr lang="en-US" sz="1100" dirty="0">
                <a:solidFill>
                  <a:schemeClr val="accent6"/>
                </a:solidFill>
              </a:rPr>
              <a:t>centre-ness</a:t>
            </a:r>
            <a:endParaRPr lang="en-US" sz="1300" dirty="0"/>
          </a:p>
        </p:txBody>
      </p:sp>
      <p:sp>
        <p:nvSpPr>
          <p:cNvPr id="31" name="Shape 29"/>
          <p:cNvSpPr/>
          <p:nvPr/>
        </p:nvSpPr>
        <p:spPr>
          <a:xfrm>
            <a:off x="7467323" y="4549140"/>
            <a:ext cx="219456" cy="0"/>
          </a:xfrm>
          <a:prstGeom prst="line">
            <a:avLst/>
          </a:prstGeom>
          <a:noFill/>
          <a:ln w="19050">
            <a:solidFill>
              <a:srgbClr val="5B6670"/>
            </a:solidFill>
            <a:prstDash val="solid"/>
            <a:tailEnd type="triangle"/>
          </a:ln>
        </p:spPr>
      </p:sp>
      <p:sp>
        <p:nvSpPr>
          <p:cNvPr id="32" name="Shape 30"/>
          <p:cNvSpPr/>
          <p:nvPr/>
        </p:nvSpPr>
        <p:spPr>
          <a:xfrm>
            <a:off x="7714211" y="4023360"/>
            <a:ext cx="2265218" cy="1051560"/>
          </a:xfrm>
          <a:prstGeom prst="roundRect">
            <a:avLst>
              <a:gd name="adj" fmla="val 5217"/>
            </a:avLst>
          </a:prstGeom>
          <a:solidFill>
            <a:schemeClr val="bg2"/>
          </a:solidFill>
          <a:ln w="19050">
            <a:solidFill>
              <a:srgbClr val="EF6C00"/>
            </a:solidFill>
            <a:prstDash val="solid"/>
          </a:ln>
        </p:spPr>
      </p:sp>
      <p:sp>
        <p:nvSpPr>
          <p:cNvPr id="33" name="Text 31"/>
          <p:cNvSpPr txBox="1"/>
          <p:nvPr/>
        </p:nvSpPr>
        <p:spPr>
          <a:xfrm>
            <a:off x="7759931" y="4023360"/>
            <a:ext cx="2173778" cy="1051560"/>
          </a:xfrm>
          <a:prstGeom prst="rect">
            <a:avLst/>
          </a:prstGeom>
          <a:noFill/>
          <a:ln/>
        </p:spPr>
        <p:txBody>
          <a:bodyPr wrap="square" lIns="0" tIns="0" rIns="0" bIns="0" rtlCol="0" anchor="ctr"/>
          <a:lstStyle/>
          <a:p>
            <a:pPr algn="ctr" indent="0" marL="0">
              <a:buNone/>
            </a:pPr>
            <a:r>
              <a:rPr lang="en-US" sz="1300" b="1" dirty="0">
                <a:solidFill>
                  <a:schemeClr val="tx1"/>
                </a:solidFill>
              </a:rPr>
              <a:t>Score</a:t>
            </a:r>
            <a:endParaRPr lang="en-US" sz="1300" dirty="0"/>
          </a:p>
          <a:p>
            <a:pPr algn="ctr" indent="0" marL="0">
              <a:buNone/>
            </a:pPr>
            <a:r>
              <a:rPr lang="en-US" sz="1100" dirty="0">
                <a:solidFill>
                  <a:schemeClr val="accent6"/>
                </a:solidFill>
              </a:rPr>
              <a:t>sqrt(class x centre-ness)</a:t>
            </a:r>
            <a:endParaRPr lang="en-US" sz="1300" dirty="0"/>
          </a:p>
          <a:p>
            <a:pPr algn="ctr" indent="0" marL="0">
              <a:buNone/>
            </a:pPr>
            <a:r>
              <a:rPr lang="en-US" sz="1100" dirty="0">
                <a:solidFill>
                  <a:schemeClr val="accent6"/>
                </a:solidFill>
              </a:rPr>
              <a:t>top 300, NMS</a:t>
            </a:r>
            <a:endParaRPr lang="en-US" sz="1300" dirty="0"/>
          </a:p>
        </p:txBody>
      </p:sp>
      <p:sp>
        <p:nvSpPr>
          <p:cNvPr id="34" name="Shape 32"/>
          <p:cNvSpPr/>
          <p:nvPr/>
        </p:nvSpPr>
        <p:spPr>
          <a:xfrm>
            <a:off x="10006861" y="4549140"/>
            <a:ext cx="219456" cy="0"/>
          </a:xfrm>
          <a:prstGeom prst="line">
            <a:avLst/>
          </a:prstGeom>
          <a:noFill/>
          <a:ln w="19050">
            <a:solidFill>
              <a:srgbClr val="5B6670"/>
            </a:solidFill>
            <a:prstDash val="solid"/>
            <a:tailEnd type="triangle"/>
          </a:ln>
        </p:spPr>
      </p:sp>
      <p:sp>
        <p:nvSpPr>
          <p:cNvPr id="35" name="Shape 33"/>
          <p:cNvSpPr/>
          <p:nvPr/>
        </p:nvSpPr>
        <p:spPr>
          <a:xfrm>
            <a:off x="10253749" y="4023360"/>
            <a:ext cx="1359131" cy="1051560"/>
          </a:xfrm>
          <a:prstGeom prst="roundRect">
            <a:avLst>
              <a:gd name="adj" fmla="val 5217"/>
            </a:avLst>
          </a:prstGeom>
          <a:solidFill>
            <a:schemeClr val="bg1"/>
          </a:solidFill>
          <a:ln w="19050">
            <a:solidFill>
              <a:srgbClr val="5B6670"/>
            </a:solidFill>
            <a:prstDash val="solid"/>
          </a:ln>
        </p:spPr>
      </p:sp>
      <p:sp>
        <p:nvSpPr>
          <p:cNvPr id="36" name="Text 34"/>
          <p:cNvSpPr txBox="1"/>
          <p:nvPr/>
        </p:nvSpPr>
        <p:spPr>
          <a:xfrm>
            <a:off x="10299469" y="4023360"/>
            <a:ext cx="1267691" cy="1051560"/>
          </a:xfrm>
          <a:prstGeom prst="rect">
            <a:avLst/>
          </a:prstGeom>
          <a:noFill/>
          <a:ln/>
        </p:spPr>
        <p:txBody>
          <a:bodyPr wrap="square" lIns="0" tIns="0" rIns="0" bIns="0" rtlCol="0" anchor="ctr"/>
          <a:lstStyle/>
          <a:p>
            <a:pPr algn="ctr" indent="0" marL="0">
              <a:buNone/>
            </a:pPr>
            <a:r>
              <a:rPr lang="en-US" sz="1300" b="1" dirty="0">
                <a:solidFill>
                  <a:schemeClr val="tx1"/>
                </a:solidFill>
              </a:rPr>
              <a:t>Output</a:t>
            </a:r>
            <a:endParaRPr lang="en-US" sz="1300" dirty="0"/>
          </a:p>
          <a:p>
            <a:pPr algn="ctr" indent="0" marL="0">
              <a:buNone/>
            </a:pPr>
            <a:r>
              <a:rPr lang="en-US" sz="1100" dirty="0">
                <a:solidFill>
                  <a:schemeClr val="accent6"/>
                </a:solidFill>
              </a:rPr>
              <a:t>boxes, class,</a:t>
            </a:r>
            <a:endParaRPr lang="en-US" sz="1300" dirty="0"/>
          </a:p>
          <a:p>
            <a:pPr algn="ctr" indent="0" marL="0">
              <a:buNone/>
            </a:pPr>
            <a:r>
              <a:rPr lang="en-US" sz="1100" dirty="0">
                <a:solidFill>
                  <a:schemeClr val="accent6"/>
                </a:solidFill>
              </a:rPr>
              <a:t>score</a:t>
            </a:r>
            <a:endParaRPr lang="en-US" sz="1300" dirty="0"/>
          </a:p>
        </p:txBody>
      </p:sp>
      <p:sp>
        <p:nvSpPr>
          <p:cNvPr id="37" name="Text 35"/>
          <p:cNvSpPr txBox="1"/>
          <p:nvPr/>
        </p:nvSpPr>
        <p:spPr>
          <a:xfrm>
            <a:off x="548640" y="5166360"/>
            <a:ext cx="11064240" cy="411480"/>
          </a:xfrm>
          <a:prstGeom prst="rect">
            <a:avLst/>
          </a:prstGeom>
          <a:noFill/>
          <a:ln/>
        </p:spPr>
        <p:txBody>
          <a:bodyPr wrap="square" lIns="0" tIns="0" rIns="0" bIns="0" rtlCol="0" anchor="ctr"/>
          <a:lstStyle/>
          <a:p>
            <a:pPr indent="0" marL="0">
              <a:buNone/>
            </a:pPr>
            <a:r>
              <a:rPr lang="en-US" sz="1300" b="1" dirty="0">
                <a:solidFill>
                  <a:schemeClr val="accent3"/>
                </a:solidFill>
              </a:rPr>
              <a:t>+ </a:t>
            </a:r>
            <a:pPr indent="0" marL="0">
              <a:buNone/>
            </a:pPr>
            <a:r>
              <a:rPr lang="en-US" sz="1300" dirty="0">
                <a:solidFill>
                  <a:schemeClr val="tx1"/>
                </a:solidFill>
              </a:rPr>
              <a:t>simple, 24 times smaller head; fixed-size output, so many cameras can be batched      </a:t>
            </a:r>
            <a:pPr indent="0" marL="0">
              <a:buNone/>
            </a:pPr>
            <a:r>
              <a:rPr lang="en-US" sz="1300" b="1" dirty="0">
                <a:solidFill>
                  <a:schemeClr val="accent4"/>
                </a:solidFill>
              </a:rPr>
              <a:t>- </a:t>
            </a:r>
            <a:pPr indent="0" marL="0">
              <a:buNone/>
            </a:pPr>
            <a:r>
              <a:rPr lang="en-US" sz="1300" dirty="0">
                <a:solidFill>
                  <a:schemeClr val="tx1"/>
                </a:solidFill>
              </a:rPr>
              <a:t>compressed scores (max about 0.75); lower accuracy as trained</a:t>
            </a:r>
            <a:endParaRPr lang="en-US" sz="1300" dirty="0"/>
          </a:p>
        </p:txBody>
      </p:sp>
      <p:sp>
        <p:nvSpPr>
          <p:cNvPr id="38" name="Shape 36"/>
          <p:cNvSpPr/>
          <p:nvPr/>
        </p:nvSpPr>
        <p:spPr>
          <a:xfrm>
            <a:off x="548640" y="5715000"/>
            <a:ext cx="11064240" cy="502920"/>
          </a:xfrm>
          <a:prstGeom prst="roundRect">
            <a:avLst>
              <a:gd name="adj" fmla="val 14545"/>
            </a:avLst>
          </a:prstGeom>
          <a:solidFill>
            <a:schemeClr val="bg2"/>
          </a:solidFill>
          <a:ln w="9525">
            <a:solidFill>
              <a:srgbClr val="D5DAE0"/>
            </a:solidFill>
            <a:prstDash val="solid"/>
          </a:ln>
        </p:spPr>
      </p:sp>
      <p:sp>
        <p:nvSpPr>
          <p:cNvPr id="39" name="Text 37"/>
          <p:cNvSpPr txBox="1"/>
          <p:nvPr/>
        </p:nvSpPr>
        <p:spPr>
          <a:xfrm>
            <a:off x="777240" y="5715000"/>
            <a:ext cx="10607040" cy="502920"/>
          </a:xfrm>
          <a:prstGeom prst="rect">
            <a:avLst/>
          </a:prstGeom>
          <a:noFill/>
          <a:ln/>
        </p:spPr>
        <p:txBody>
          <a:bodyPr wrap="square" lIns="0" tIns="0" rIns="0" bIns="0" rtlCol="0" anchor="ctr"/>
          <a:lstStyle/>
          <a:p>
            <a:pPr indent="0" marL="0">
              <a:buNone/>
            </a:pPr>
            <a:r>
              <a:rPr lang="en-US" sz="1300" dirty="0">
                <a:solidFill>
                  <a:schemeClr val="tx1"/>
                </a:solidFill>
              </a:rPr>
              <a:t>Both read the same 4-level feature pyramid and output the same thing: boxes with a class and a score. Only the way they get there differs.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Results: DINOv3 leads at every one of the 40 epochs</a:t>
            </a:r>
            <a:endParaRPr lang="en-US" sz="3000" dirty="0"/>
          </a:p>
        </p:txBody>
      </p:sp>
      <p:graphicFrame>
        <p:nvGraphicFramePr>
          <p:cNvPr id="3" name="Chart 0" descr=""/>
          <p:cNvGraphicFramePr/>
          <p:nvPr/>
        </p:nvGraphicFramePr>
        <p:xfrm>
          <a:off x="457200" y="1188720"/>
          <a:ext cx="6675120" cy="50292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06640" y="1280160"/>
          <a:ext cx="4206240" cy="914400"/>
        </p:xfrm>
        <a:graphic>
          <a:graphicData uri="http://schemas.openxmlformats.org/drawingml/2006/table">
            <a:tbl>
              <a:tblPr/>
              <a:tblGrid>
                <a:gridCol w="2103120"/>
                <a:gridCol w="1051560"/>
                <a:gridCol w="1051560"/>
              </a:tblGrid>
              <a:tr h="384048">
                <a:tc>
                  <a:txBody>
                    <a:bodyPr/>
                    <a:lstStyle/>
                    <a:p>
                      <a:pPr indent="0" marL="0">
                        <a:buNone/>
                      </a:pPr>
                      <a:r>
                        <a:rPr lang="en-US" sz="1300" b="1" dirty="0">
                          <a:solidFill>
                            <a:srgbClr val="1A1A1A"/>
                          </a:solidFill>
                        </a:rPr>
                        <a:t>Model</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algn="r" indent="0" marL="0">
                        <a:buNone/>
                      </a:pPr>
                      <a:r>
                        <a:rPr lang="en-US" sz="1300" b="1" dirty="0">
                          <a:solidFill>
                            <a:srgbClr val="1A1A1A"/>
                          </a:solidFill>
                        </a:rPr>
                        <a:t>Best val</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algn="r" indent="0" marL="0">
                        <a:buNone/>
                      </a:pPr>
                      <a:r>
                        <a:rPr lang="en-US" sz="1300" b="1" dirty="0">
                          <a:solidFill>
                            <a:srgbClr val="1A1A1A"/>
                          </a:solidFill>
                        </a:rPr>
                        <a:t>Test</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384048">
                <a:tc>
                  <a:txBody>
                    <a:bodyPr/>
                    <a:lstStyle/>
                    <a:p>
                      <a:pPr indent="0" marL="0">
                        <a:buNone/>
                      </a:pPr>
                      <a:r>
                        <a:rPr lang="en-US" sz="1300" b="1" dirty="0">
                          <a:solidFill>
                            <a:srgbClr val="1F6F8B"/>
                          </a:solidFill>
                        </a:rPr>
                        <a:t>DINOv3 ViT-S</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0.7312</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0.7196</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384048">
                <a:tc>
                  <a:txBody>
                    <a:bodyPr/>
                    <a:lstStyle/>
                    <a:p>
                      <a:pPr indent="0" marL="0">
                        <a:buNone/>
                      </a:pPr>
                      <a:r>
                        <a:rPr lang="en-US" sz="1300" b="1" dirty="0">
                          <a:solidFill>
                            <a:srgbClr val="2E7D32"/>
                          </a:solidFill>
                        </a:rPr>
                        <a:t>MobileNetV3-L</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0.7056</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0.6968</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384048">
                <a:tc>
                  <a:txBody>
                    <a:bodyPr/>
                    <a:lstStyle/>
                    <a:p>
                      <a:pPr indent="0" marL="0">
                        <a:buNone/>
                      </a:pPr>
                      <a:r>
                        <a:rPr lang="en-US" sz="1300" b="1" dirty="0">
                          <a:solidFill>
                            <a:srgbClr val="C62828"/>
                          </a:solidFill>
                        </a:rPr>
                        <a:t>ResNet-18</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0.6567</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0.6477</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384048">
                <a:tc>
                  <a:txBody>
                    <a:bodyPr/>
                    <a:lstStyle/>
                    <a:p>
                      <a:pPr indent="0" marL="0">
                        <a:buNone/>
                      </a:pPr>
                      <a:r>
                        <a:rPr lang="en-US" sz="1300" b="1" dirty="0">
                          <a:solidFill>
                            <a:srgbClr val="EF6C00"/>
                          </a:solidFill>
                        </a:rPr>
                        <a:t>ViT-Ti + FCOS</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0.6212</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0.6125</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5" name="Text 1"/>
          <p:cNvSpPr txBox="1"/>
          <p:nvPr/>
        </p:nvSpPr>
        <p:spPr>
          <a:xfrm>
            <a:off x="7406640" y="3291840"/>
            <a:ext cx="4206240" cy="274320"/>
          </a:xfrm>
          <a:prstGeom prst="rect">
            <a:avLst/>
          </a:prstGeom>
          <a:noFill/>
          <a:ln/>
        </p:spPr>
        <p:txBody>
          <a:bodyPr wrap="square" lIns="0" tIns="0" rIns="0" bIns="0" rtlCol="0" anchor="t"/>
          <a:lstStyle/>
          <a:p>
            <a:pPr indent="0" marL="0">
              <a:buNone/>
            </a:pPr>
            <a:r>
              <a:rPr lang="en-US" sz="1100" dirty="0">
                <a:solidFill>
                  <a:schemeClr val="accent6"/>
                </a:solidFill>
              </a:rPr>
              <a:t>mAP@0.5</a:t>
            </a:r>
            <a:endParaRPr lang="en-US" sz="1100" dirty="0"/>
          </a:p>
        </p:txBody>
      </p:sp>
      <p:sp>
        <p:nvSpPr>
          <p:cNvPr id="6" name="Text 2"/>
          <p:cNvSpPr txBox="1"/>
          <p:nvPr/>
        </p:nvSpPr>
        <p:spPr>
          <a:xfrm>
            <a:off x="7406640" y="3657600"/>
            <a:ext cx="420624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Same head, same data, same settings: only the backbone differs</a:t>
            </a:r>
            <a:endParaRPr lang="en-US" sz="1400" dirty="0"/>
          </a:p>
          <a:p>
            <a:pPr marL="342900" indent="-342900">
              <a:spcAft>
                <a:spcPts val="800"/>
              </a:spcAft>
              <a:buSzPct val="100000"/>
              <a:buChar char="•"/>
            </a:pPr>
            <a:r>
              <a:rPr lang="en-US" sz="1400" dirty="0">
                <a:solidFill>
                  <a:schemeClr val="tx1"/>
                </a:solidFill>
              </a:rPr>
              <a:t>DINOv3 is 2.3 points ahead of MobileNetV3 and 7.2 ahead of ResNet-18 on test</a:t>
            </a:r>
            <a:endParaRPr lang="en-US" sz="1400" dirty="0"/>
          </a:p>
          <a:p>
            <a:pPr marL="342900" indent="-342900">
              <a:spcAft>
                <a:spcPts val="800"/>
              </a:spcAft>
              <a:buSzPct val="100000"/>
              <a:buChar char="•"/>
            </a:pPr>
            <a:r>
              <a:rPr lang="en-US" sz="1400" dirty="0">
                <a:solidFill>
                  <a:schemeClr val="tx1"/>
                </a:solidFill>
              </a:rPr>
              <a:t>No model overfitted: all four were still improving at epoch 40; the smaller ones underfit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Results: false alarms, speed, and the two heads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931920"/>
                <a:gridCol w="2377440"/>
                <a:gridCol w="1737360"/>
                <a:gridCol w="1554480"/>
                <a:gridCol w="1463040"/>
              </a:tblGrid>
              <a:tr h="411480">
                <a:tc>
                  <a:txBody>
                    <a:bodyPr/>
                    <a:lstStyle/>
                    <a:p>
                      <a:pPr indent="0" marL="0">
                        <a:buNone/>
                      </a:pPr>
                      <a:r>
                        <a:rPr lang="en-US" sz="1300" b="1" dirty="0">
                          <a:solidFill>
                            <a:srgbClr val="1A1A1A"/>
                          </a:solidFill>
                        </a:rPr>
                        <a:t>Model</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algn="r" indent="0" marL="0">
                        <a:buNone/>
                      </a:pPr>
                      <a:r>
                        <a:rPr lang="en-US" sz="1300" b="1" dirty="0">
                          <a:solidFill>
                            <a:srgbClr val="1A1A1A"/>
                          </a:solidFill>
                        </a:rPr>
                        <a:t>Detected at 1% false alarms</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algn="r" indent="0" marL="0">
                        <a:buNone/>
                      </a:pPr>
                      <a:r>
                        <a:rPr lang="en-US" sz="1300" b="1" dirty="0">
                          <a:solidFill>
                            <a:srgbClr val="1A1A1A"/>
                          </a:solidFill>
                        </a:rPr>
                        <a:t>False-alarm rate</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algn="r" indent="0" marL="0">
                        <a:buNone/>
                      </a:pPr>
                      <a:r>
                        <a:rPr lang="en-US" sz="1300" b="1" dirty="0">
                          <a:solidFill>
                            <a:srgbClr val="1A1A1A"/>
                          </a:solidFill>
                        </a:rPr>
                        <a:t>CPU ms / frame</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algn="r" indent="0" marL="0">
                        <a:buNone/>
                      </a:pPr>
                      <a:r>
                        <a:rPr lang="en-US" sz="1300" b="1" dirty="0">
                          <a:solidFill>
                            <a:srgbClr val="1A1A1A"/>
                          </a:solidFill>
                        </a:rPr>
                        <a:t>Parameters</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r>
              <a:tr h="411480">
                <a:tc>
                  <a:txBody>
                    <a:bodyPr/>
                    <a:lstStyle/>
                    <a:p>
                      <a:pPr indent="0" marL="0">
                        <a:buNone/>
                      </a:pPr>
                      <a:r>
                        <a:rPr lang="en-US" sz="1300" b="1" dirty="0">
                          <a:solidFill>
                            <a:srgbClr val="1F6F8B"/>
                          </a:solidFill>
                        </a:rPr>
                        <a:t>DINOv3 ViT-S + Faster R-CNN</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86.9%</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0.37%</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894-912</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39.3M</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11480">
                <a:tc>
                  <a:txBody>
                    <a:bodyPr/>
                    <a:lstStyle/>
                    <a:p>
                      <a:pPr indent="0" marL="0">
                        <a:buNone/>
                      </a:pPr>
                      <a:r>
                        <a:rPr lang="en-US" sz="1300" b="1" dirty="0">
                          <a:solidFill>
                            <a:srgbClr val="2E7D32"/>
                          </a:solidFill>
                        </a:rPr>
                        <a:t>MobileNetV3-L + Faster R-CNN</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86.9%</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0.87%</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346-385</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20.0M</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11480">
                <a:tc>
                  <a:txBody>
                    <a:bodyPr/>
                    <a:lstStyle/>
                    <a:p>
                      <a:pPr indent="0" marL="0">
                        <a:buNone/>
                      </a:pPr>
                      <a:r>
                        <a:rPr lang="en-US" sz="1300" b="1" dirty="0">
                          <a:solidFill>
                            <a:srgbClr val="C62828"/>
                          </a:solidFill>
                        </a:rPr>
                        <a:t>ResNet-18 + Faster R-CNN</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67.9%</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0.87%</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414</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27.9M</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411480">
                <a:tc>
                  <a:txBody>
                    <a:bodyPr/>
                    <a:lstStyle/>
                    <a:p>
                      <a:pPr indent="0" marL="0">
                        <a:buNone/>
                      </a:pPr>
                      <a:r>
                        <a:rPr lang="en-US" sz="1300" b="1" dirty="0">
                          <a:solidFill>
                            <a:srgbClr val="EF6C00"/>
                          </a:solidFill>
                        </a:rPr>
                        <a:t>DINOv3 ViT-Ti + FCOS</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74.2%</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0.56%</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338-398</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algn="r" indent="0" marL="0">
                        <a:buNone/>
                      </a:pPr>
                      <a:r>
                        <a:rPr lang="en-US" sz="1300" dirty="0">
                          <a:solidFill>
                            <a:srgbClr val="1A1A1A"/>
                          </a:solidFill>
                        </a:rPr>
                        <a:t>6.95M</a:t>
                      </a:r>
                      <a:endParaRPr lang="en-US" sz="1300" dirty="0"/>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4" name="Text 1"/>
          <p:cNvSpPr txBox="1"/>
          <p:nvPr/>
        </p:nvSpPr>
        <p:spPr>
          <a:xfrm>
            <a:off x="548640" y="342900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Validation images; threshold raised until at most 1% of fire-free images trigger a detection. CPU time on the project laptop.</a:t>
            </a:r>
            <a:endParaRPr lang="en-US" sz="1100" dirty="0"/>
          </a:p>
        </p:txBody>
      </p:sp>
      <p:sp>
        <p:nvSpPr>
          <p:cNvPr id="5" name="Shape 2"/>
          <p:cNvSpPr/>
          <p:nvPr/>
        </p:nvSpPr>
        <p:spPr>
          <a:xfrm>
            <a:off x="548640" y="3931920"/>
            <a:ext cx="3520440" cy="2103120"/>
          </a:xfrm>
          <a:prstGeom prst="roundRect">
            <a:avLst>
              <a:gd name="adj" fmla="val 3478"/>
            </a:avLst>
          </a:prstGeom>
          <a:solidFill>
            <a:schemeClr val="bg2"/>
          </a:solidFill>
          <a:ln w="9525">
            <a:solidFill>
              <a:srgbClr val="D5DAE0"/>
            </a:solidFill>
            <a:prstDash val="solid"/>
          </a:ln>
        </p:spPr>
      </p:sp>
      <p:sp>
        <p:nvSpPr>
          <p:cNvPr id="6" name="Text 3"/>
          <p:cNvSpPr txBox="1"/>
          <p:nvPr/>
        </p:nvSpPr>
        <p:spPr>
          <a:xfrm>
            <a:off x="777240" y="4069080"/>
            <a:ext cx="3108960" cy="411480"/>
          </a:xfrm>
          <a:prstGeom prst="rect">
            <a:avLst/>
          </a:prstGeom>
          <a:noFill/>
          <a:ln/>
        </p:spPr>
        <p:txBody>
          <a:bodyPr wrap="square" lIns="0" tIns="0" rIns="0" bIns="0" rtlCol="0" anchor="ctr"/>
          <a:lstStyle/>
          <a:p>
            <a:pPr indent="0" marL="0">
              <a:buNone/>
            </a:pPr>
            <a:r>
              <a:rPr lang="en-US" sz="1800" b="1" dirty="0">
                <a:solidFill>
                  <a:schemeClr val="accent2"/>
                </a:solidFill>
              </a:rPr>
              <a:t>False alarms</a:t>
            </a:r>
            <a:endParaRPr lang="en-US" sz="1800" dirty="0"/>
          </a:p>
        </p:txBody>
      </p:sp>
      <p:sp>
        <p:nvSpPr>
          <p:cNvPr id="7" name="Text 4"/>
          <p:cNvSpPr txBox="1"/>
          <p:nvPr/>
        </p:nvSpPr>
        <p:spPr>
          <a:xfrm>
            <a:off x="777240" y="4572000"/>
            <a:ext cx="3108960" cy="1371600"/>
          </a:xfrm>
          <a:prstGeom prst="rect">
            <a:avLst/>
          </a:prstGeom>
          <a:noFill/>
          <a:ln/>
        </p:spPr>
        <p:txBody>
          <a:bodyPr wrap="square" lIns="0" tIns="0" rIns="0" bIns="0" rtlCol="0" anchor="t"/>
          <a:lstStyle/>
          <a:p>
            <a:pPr indent="0" marL="0">
              <a:buNone/>
            </a:pPr>
            <a:r>
              <a:rPr lang="en-US" sz="1400" dirty="0">
                <a:solidFill>
                  <a:schemeClr val="tx1"/>
                </a:solidFill>
              </a:rPr>
              <a:t>DINOv3 and MobileNetV3 detect the same share of fire/smoke images, but DINOv3 needs less than half the false alarms (0.37% against 0.87%)</a:t>
            </a:r>
            <a:endParaRPr lang="en-US" sz="1400" dirty="0"/>
          </a:p>
        </p:txBody>
      </p:sp>
      <p:sp>
        <p:nvSpPr>
          <p:cNvPr id="8" name="Shape 5"/>
          <p:cNvSpPr/>
          <p:nvPr/>
        </p:nvSpPr>
        <p:spPr>
          <a:xfrm>
            <a:off x="4297680" y="3931920"/>
            <a:ext cx="3520440" cy="2103120"/>
          </a:xfrm>
          <a:prstGeom prst="roundRect">
            <a:avLst>
              <a:gd name="adj" fmla="val 3478"/>
            </a:avLst>
          </a:prstGeom>
          <a:solidFill>
            <a:schemeClr val="bg2"/>
          </a:solidFill>
          <a:ln w="9525">
            <a:solidFill>
              <a:srgbClr val="D5DAE0"/>
            </a:solidFill>
            <a:prstDash val="solid"/>
          </a:ln>
        </p:spPr>
      </p:sp>
      <p:sp>
        <p:nvSpPr>
          <p:cNvPr id="9" name="Text 6"/>
          <p:cNvSpPr txBox="1"/>
          <p:nvPr/>
        </p:nvSpPr>
        <p:spPr>
          <a:xfrm>
            <a:off x="4526280" y="4069080"/>
            <a:ext cx="3108960" cy="411480"/>
          </a:xfrm>
          <a:prstGeom prst="rect">
            <a:avLst/>
          </a:prstGeom>
          <a:noFill/>
          <a:ln/>
        </p:spPr>
        <p:txBody>
          <a:bodyPr wrap="square" lIns="0" tIns="0" rIns="0" bIns="0" rtlCol="0" anchor="ctr"/>
          <a:lstStyle/>
          <a:p>
            <a:pPr indent="0" marL="0">
              <a:buNone/>
            </a:pPr>
            <a:r>
              <a:rPr lang="en-US" sz="1800" b="1" dirty="0">
                <a:solidFill>
                  <a:schemeClr val="accent3"/>
                </a:solidFill>
              </a:rPr>
              <a:t>Speed</a:t>
            </a:r>
            <a:endParaRPr lang="en-US" sz="1800" dirty="0"/>
          </a:p>
        </p:txBody>
      </p:sp>
      <p:sp>
        <p:nvSpPr>
          <p:cNvPr id="10" name="Text 7"/>
          <p:cNvSpPr txBox="1"/>
          <p:nvPr/>
        </p:nvSpPr>
        <p:spPr>
          <a:xfrm>
            <a:off x="4526280" y="4572000"/>
            <a:ext cx="3108960" cy="1371600"/>
          </a:xfrm>
          <a:prstGeom prst="rect">
            <a:avLst/>
          </a:prstGeom>
          <a:noFill/>
          <a:ln/>
        </p:spPr>
        <p:txBody>
          <a:bodyPr wrap="square" lIns="0" tIns="0" rIns="0" bIns="0" rtlCol="0" anchor="t"/>
          <a:lstStyle/>
          <a:p>
            <a:pPr indent="0" marL="0">
              <a:buNone/>
            </a:pPr>
            <a:r>
              <a:rPr lang="en-US" sz="1400" dirty="0">
                <a:solidFill>
                  <a:schemeClr val="tx1"/>
                </a:solidFill>
              </a:rPr>
              <a:t>MobileNetV3 is about 2.5 times faster than DINOv3. ResNet-18 is slower than MobileNetV3 and less accurate</a:t>
            </a:r>
            <a:endParaRPr lang="en-US" sz="1400" dirty="0"/>
          </a:p>
        </p:txBody>
      </p:sp>
      <p:sp>
        <p:nvSpPr>
          <p:cNvPr id="11" name="Shape 8"/>
          <p:cNvSpPr/>
          <p:nvPr/>
        </p:nvSpPr>
        <p:spPr>
          <a:xfrm>
            <a:off x="8046720" y="3931920"/>
            <a:ext cx="3520440" cy="2103120"/>
          </a:xfrm>
          <a:prstGeom prst="roundRect">
            <a:avLst>
              <a:gd name="adj" fmla="val 3478"/>
            </a:avLst>
          </a:prstGeom>
          <a:solidFill>
            <a:schemeClr val="bg2"/>
          </a:solidFill>
          <a:ln w="9525">
            <a:solidFill>
              <a:srgbClr val="D5DAE0"/>
            </a:solidFill>
            <a:prstDash val="solid"/>
          </a:ln>
        </p:spPr>
      </p:sp>
      <p:sp>
        <p:nvSpPr>
          <p:cNvPr id="12" name="Text 9"/>
          <p:cNvSpPr txBox="1"/>
          <p:nvPr/>
        </p:nvSpPr>
        <p:spPr>
          <a:xfrm>
            <a:off x="8275320" y="4069080"/>
            <a:ext cx="3108960" cy="411480"/>
          </a:xfrm>
          <a:prstGeom prst="rect">
            <a:avLst/>
          </a:prstGeom>
          <a:noFill/>
          <a:ln/>
        </p:spPr>
        <p:txBody>
          <a:bodyPr wrap="square" lIns="0" tIns="0" rIns="0" bIns="0" rtlCol="0" anchor="ctr"/>
          <a:lstStyle/>
          <a:p>
            <a:pPr indent="0" marL="0">
              <a:buNone/>
            </a:pPr>
            <a:r>
              <a:rPr lang="en-US" sz="1800" b="1" dirty="0">
                <a:solidFill>
                  <a:schemeClr val="accent5"/>
                </a:solidFill>
              </a:rPr>
              <a:t>Faster R-CNN and FCOS</a:t>
            </a:r>
            <a:endParaRPr lang="en-US" sz="1800" dirty="0"/>
          </a:p>
        </p:txBody>
      </p:sp>
      <p:sp>
        <p:nvSpPr>
          <p:cNvPr id="13" name="Text 10"/>
          <p:cNvSpPr txBox="1"/>
          <p:nvPr/>
        </p:nvSpPr>
        <p:spPr>
          <a:xfrm>
            <a:off x="8275320" y="4572000"/>
            <a:ext cx="3108960" cy="1371600"/>
          </a:xfrm>
          <a:prstGeom prst="rect">
            <a:avLst/>
          </a:prstGeom>
          <a:noFill/>
          <a:ln/>
        </p:spPr>
        <p:txBody>
          <a:bodyPr wrap="square" lIns="0" tIns="0" rIns="0" bIns="0" rtlCol="0" anchor="t"/>
          <a:lstStyle/>
          <a:p>
            <a:pPr indent="0" marL="0">
              <a:buNone/>
            </a:pPr>
            <a:r>
              <a:rPr lang="en-US" sz="1400" dirty="0">
                <a:solidFill>
                  <a:schemeClr val="tx1"/>
                </a:solidFill>
              </a:rPr>
              <a:t>On the same backbone FCOS is not faster (924 ms against 884 ms). Its gain is batched export for many cameras; its scores top out near 0.75</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Decision: continue with DINOv3 + Faster R-CNN</a:t>
            </a:r>
            <a:endParaRPr lang="en-US" sz="3000" dirty="0"/>
          </a:p>
        </p:txBody>
      </p:sp>
      <p:sp>
        <p:nvSpPr>
          <p:cNvPr id="3" name="Shape 1"/>
          <p:cNvSpPr/>
          <p:nvPr/>
        </p:nvSpPr>
        <p:spPr>
          <a:xfrm>
            <a:off x="548640" y="1371600"/>
            <a:ext cx="420624" cy="420624"/>
          </a:xfrm>
          <a:prstGeom prst="ellipse">
            <a:avLst/>
          </a:prstGeom>
          <a:solidFill>
            <a:schemeClr val="accent2"/>
          </a:solidFill>
          <a:ln w="12700">
            <a:solidFill>
              <a:schemeClr val="accent2"/>
            </a:solidFill>
            <a:prstDash val="solid"/>
          </a:ln>
        </p:spPr>
      </p:sp>
      <p:sp>
        <p:nvSpPr>
          <p:cNvPr id="4" name="Text 2"/>
          <p:cNvSpPr txBox="1"/>
          <p:nvPr/>
        </p:nvSpPr>
        <p:spPr>
          <a:xfrm>
            <a:off x="548640" y="137160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143000" y="1325880"/>
            <a:ext cx="5486400" cy="365760"/>
          </a:xfrm>
          <a:prstGeom prst="rect">
            <a:avLst/>
          </a:prstGeom>
          <a:noFill/>
          <a:ln/>
        </p:spPr>
        <p:txBody>
          <a:bodyPr wrap="square" lIns="0" tIns="0" rIns="0" bIns="0" rtlCol="0" anchor="ctr"/>
          <a:lstStyle/>
          <a:p>
            <a:pPr indent="0" marL="0">
              <a:buNone/>
            </a:pPr>
            <a:r>
              <a:rPr lang="en-US" sz="1800" b="1" dirty="0">
                <a:solidFill>
                  <a:schemeClr val="tx1"/>
                </a:solidFill>
              </a:rPr>
              <a:t>Most accurate</a:t>
            </a:r>
            <a:endParaRPr lang="en-US" sz="1800" dirty="0"/>
          </a:p>
        </p:txBody>
      </p:sp>
      <p:sp>
        <p:nvSpPr>
          <p:cNvPr id="6" name="Text 4"/>
          <p:cNvSpPr txBox="1"/>
          <p:nvPr/>
        </p:nvSpPr>
        <p:spPr>
          <a:xfrm>
            <a:off x="1143000" y="1709928"/>
            <a:ext cx="5486400" cy="411480"/>
          </a:xfrm>
          <a:prstGeom prst="rect">
            <a:avLst/>
          </a:prstGeom>
          <a:noFill/>
          <a:ln/>
        </p:spPr>
        <p:txBody>
          <a:bodyPr wrap="square" lIns="0" tIns="0" rIns="0" bIns="0" rtlCol="0" anchor="t"/>
          <a:lstStyle/>
          <a:p>
            <a:pPr indent="0" marL="0">
              <a:buNone/>
            </a:pPr>
            <a:r>
              <a:rPr lang="en-US" sz="1400" dirty="0">
                <a:solidFill>
                  <a:schemeClr val="accent6"/>
                </a:solidFill>
              </a:rPr>
              <a:t>Best mAP on validation and test, on both smoke and fire</a:t>
            </a:r>
            <a:endParaRPr lang="en-US" sz="1400" dirty="0"/>
          </a:p>
        </p:txBody>
      </p:sp>
      <p:sp>
        <p:nvSpPr>
          <p:cNvPr id="7" name="Shape 5"/>
          <p:cNvSpPr/>
          <p:nvPr/>
        </p:nvSpPr>
        <p:spPr>
          <a:xfrm>
            <a:off x="548640" y="2331720"/>
            <a:ext cx="420624" cy="420624"/>
          </a:xfrm>
          <a:prstGeom prst="ellipse">
            <a:avLst/>
          </a:prstGeom>
          <a:solidFill>
            <a:schemeClr val="accent2"/>
          </a:solidFill>
          <a:ln w="12700">
            <a:solidFill>
              <a:schemeClr val="accent2"/>
            </a:solidFill>
            <a:prstDash val="solid"/>
          </a:ln>
        </p:spPr>
      </p:sp>
      <p:sp>
        <p:nvSpPr>
          <p:cNvPr id="8" name="Text 6"/>
          <p:cNvSpPr txBox="1"/>
          <p:nvPr/>
        </p:nvSpPr>
        <p:spPr>
          <a:xfrm>
            <a:off x="548640" y="23317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143000" y="2286000"/>
            <a:ext cx="5486400" cy="365760"/>
          </a:xfrm>
          <a:prstGeom prst="rect">
            <a:avLst/>
          </a:prstGeom>
          <a:noFill/>
          <a:ln/>
        </p:spPr>
        <p:txBody>
          <a:bodyPr wrap="square" lIns="0" tIns="0" rIns="0" bIns="0" rtlCol="0" anchor="ctr"/>
          <a:lstStyle/>
          <a:p>
            <a:pPr indent="0" marL="0">
              <a:buNone/>
            </a:pPr>
            <a:r>
              <a:rPr lang="en-US" sz="1800" b="1" dirty="0">
                <a:solidFill>
                  <a:schemeClr val="tx1"/>
                </a:solidFill>
              </a:rPr>
              <a:t>Fewest false alarms</a:t>
            </a:r>
            <a:endParaRPr lang="en-US" sz="1800" dirty="0"/>
          </a:p>
        </p:txBody>
      </p:sp>
      <p:sp>
        <p:nvSpPr>
          <p:cNvPr id="10" name="Text 8"/>
          <p:cNvSpPr txBox="1"/>
          <p:nvPr/>
        </p:nvSpPr>
        <p:spPr>
          <a:xfrm>
            <a:off x="1143000" y="2670048"/>
            <a:ext cx="5486400" cy="411480"/>
          </a:xfrm>
          <a:prstGeom prst="rect">
            <a:avLst/>
          </a:prstGeom>
          <a:noFill/>
          <a:ln/>
        </p:spPr>
        <p:txBody>
          <a:bodyPr wrap="square" lIns="0" tIns="0" rIns="0" bIns="0" rtlCol="0" anchor="t"/>
          <a:lstStyle/>
          <a:p>
            <a:pPr indent="0" marL="0">
              <a:buNone/>
            </a:pPr>
            <a:r>
              <a:rPr lang="en-US" sz="1400" dirty="0">
                <a:solidFill>
                  <a:schemeClr val="accent6"/>
                </a:solidFill>
              </a:rPr>
              <a:t>Same detections as MobileNetV3 at less than half the false-alarm rate</a:t>
            </a:r>
            <a:endParaRPr lang="en-US" sz="1400" dirty="0"/>
          </a:p>
        </p:txBody>
      </p:sp>
      <p:sp>
        <p:nvSpPr>
          <p:cNvPr id="11" name="Shape 9"/>
          <p:cNvSpPr/>
          <p:nvPr/>
        </p:nvSpPr>
        <p:spPr>
          <a:xfrm>
            <a:off x="548640" y="3291840"/>
            <a:ext cx="420624" cy="420624"/>
          </a:xfrm>
          <a:prstGeom prst="ellipse">
            <a:avLst/>
          </a:prstGeom>
          <a:solidFill>
            <a:schemeClr val="accent2"/>
          </a:solidFill>
          <a:ln w="12700">
            <a:solidFill>
              <a:schemeClr val="accent2"/>
            </a:solidFill>
            <a:prstDash val="solid"/>
          </a:ln>
        </p:spPr>
      </p:sp>
      <p:sp>
        <p:nvSpPr>
          <p:cNvPr id="12" name="Text 10"/>
          <p:cNvSpPr txBox="1"/>
          <p:nvPr/>
        </p:nvSpPr>
        <p:spPr>
          <a:xfrm>
            <a:off x="548640" y="329184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43000" y="3246120"/>
            <a:ext cx="5486400" cy="365760"/>
          </a:xfrm>
          <a:prstGeom prst="rect">
            <a:avLst/>
          </a:prstGeom>
          <a:noFill/>
          <a:ln/>
        </p:spPr>
        <p:txBody>
          <a:bodyPr wrap="square" lIns="0" tIns="0" rIns="0" bIns="0" rtlCol="0" anchor="ctr"/>
          <a:lstStyle/>
          <a:p>
            <a:pPr indent="0" marL="0">
              <a:buNone/>
            </a:pPr>
            <a:r>
              <a:rPr lang="en-US" sz="1800" b="1" dirty="0">
                <a:solidFill>
                  <a:schemeClr val="tx1"/>
                </a:solidFill>
              </a:rPr>
              <a:t>Features work without training</a:t>
            </a:r>
            <a:endParaRPr lang="en-US" sz="1800" dirty="0"/>
          </a:p>
        </p:txBody>
      </p:sp>
      <p:sp>
        <p:nvSpPr>
          <p:cNvPr id="14" name="Text 12"/>
          <p:cNvSpPr txBox="1"/>
          <p:nvPr/>
        </p:nvSpPr>
        <p:spPr>
          <a:xfrm>
            <a:off x="1143000" y="3630168"/>
            <a:ext cx="5486400" cy="411480"/>
          </a:xfrm>
          <a:prstGeom prst="rect">
            <a:avLst/>
          </a:prstGeom>
          <a:noFill/>
          <a:ln/>
        </p:spPr>
        <p:txBody>
          <a:bodyPr wrap="square" lIns="0" tIns="0" rIns="0" bIns="0" rtlCol="0" anchor="t"/>
          <a:lstStyle/>
          <a:p>
            <a:pPr indent="0" marL="0">
              <a:buNone/>
            </a:pPr>
            <a:r>
              <a:rPr lang="en-US" sz="1400" dirty="0">
                <a:solidFill>
                  <a:schemeClr val="accent6"/>
                </a:solidFill>
              </a:rPr>
              <a:t>Best result with every backbone frozen</a:t>
            </a:r>
            <a:endParaRPr lang="en-US" sz="1400" dirty="0"/>
          </a:p>
        </p:txBody>
      </p:sp>
      <p:sp>
        <p:nvSpPr>
          <p:cNvPr id="15" name="Shape 13"/>
          <p:cNvSpPr/>
          <p:nvPr/>
        </p:nvSpPr>
        <p:spPr>
          <a:xfrm>
            <a:off x="548640" y="4251960"/>
            <a:ext cx="420624" cy="420624"/>
          </a:xfrm>
          <a:prstGeom prst="ellipse">
            <a:avLst/>
          </a:prstGeom>
          <a:solidFill>
            <a:schemeClr val="accent2"/>
          </a:solidFill>
          <a:ln w="12700">
            <a:solidFill>
              <a:schemeClr val="accent2"/>
            </a:solidFill>
            <a:prstDash val="solid"/>
          </a:ln>
        </p:spPr>
      </p:sp>
      <p:sp>
        <p:nvSpPr>
          <p:cNvPr id="16" name="Text 14"/>
          <p:cNvSpPr txBox="1"/>
          <p:nvPr/>
        </p:nvSpPr>
        <p:spPr>
          <a:xfrm>
            <a:off x="548640" y="42519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5"/>
          <p:cNvSpPr txBox="1"/>
          <p:nvPr/>
        </p:nvSpPr>
        <p:spPr>
          <a:xfrm>
            <a:off x="1143000" y="4206240"/>
            <a:ext cx="5486400" cy="365760"/>
          </a:xfrm>
          <a:prstGeom prst="rect">
            <a:avLst/>
          </a:prstGeom>
          <a:noFill/>
          <a:ln/>
        </p:spPr>
        <p:txBody>
          <a:bodyPr wrap="square" lIns="0" tIns="0" rIns="0" bIns="0" rtlCol="0" anchor="ctr"/>
          <a:lstStyle/>
          <a:p>
            <a:pPr indent="0" marL="0">
              <a:buNone/>
            </a:pPr>
            <a:r>
              <a:rPr lang="en-US" sz="1800" b="1" dirty="0">
                <a:solidFill>
                  <a:schemeClr val="tx1"/>
                </a:solidFill>
              </a:rPr>
              <a:t>Clean scores</a:t>
            </a:r>
            <a:endParaRPr lang="en-US" sz="1800" dirty="0"/>
          </a:p>
        </p:txBody>
      </p:sp>
      <p:sp>
        <p:nvSpPr>
          <p:cNvPr id="18" name="Text 16"/>
          <p:cNvSpPr txBox="1"/>
          <p:nvPr/>
        </p:nvSpPr>
        <p:spPr>
          <a:xfrm>
            <a:off x="1143000" y="4590288"/>
            <a:ext cx="5486400" cy="411480"/>
          </a:xfrm>
          <a:prstGeom prst="rect">
            <a:avLst/>
          </a:prstGeom>
          <a:noFill/>
          <a:ln/>
        </p:spPr>
        <p:txBody>
          <a:bodyPr wrap="square" lIns="0" tIns="0" rIns="0" bIns="0" rtlCol="0" anchor="t"/>
          <a:lstStyle/>
          <a:p>
            <a:pPr indent="0" marL="0">
              <a:buNone/>
            </a:pPr>
            <a:r>
              <a:rPr lang="en-US" sz="1400" dirty="0">
                <a:solidFill>
                  <a:schemeClr val="accent6"/>
                </a:solidFill>
              </a:rPr>
              <a:t>Faster R-CNN keeps a strict 0.90 threshold usable</a:t>
            </a:r>
            <a:endParaRPr lang="en-US" sz="1400" dirty="0"/>
          </a:p>
        </p:txBody>
      </p:sp>
      <p:sp>
        <p:nvSpPr>
          <p:cNvPr id="19" name="Shape 17"/>
          <p:cNvSpPr/>
          <p:nvPr/>
        </p:nvSpPr>
        <p:spPr>
          <a:xfrm>
            <a:off x="7223760" y="1280160"/>
            <a:ext cx="4389120" cy="3749040"/>
          </a:xfrm>
          <a:prstGeom prst="roundRect">
            <a:avLst>
              <a:gd name="adj" fmla="val 1951"/>
            </a:avLst>
          </a:prstGeom>
          <a:solidFill>
            <a:schemeClr val="bg2"/>
          </a:solidFill>
          <a:ln w="9525">
            <a:solidFill>
              <a:srgbClr val="D5DAE0"/>
            </a:solidFill>
            <a:prstDash val="solid"/>
          </a:ln>
        </p:spPr>
      </p:sp>
      <p:sp>
        <p:nvSpPr>
          <p:cNvPr id="20" name="Text 18"/>
          <p:cNvSpPr txBox="1"/>
          <p:nvPr/>
        </p:nvSpPr>
        <p:spPr>
          <a:xfrm>
            <a:off x="7498080" y="1417320"/>
            <a:ext cx="3840480" cy="685800"/>
          </a:xfrm>
          <a:prstGeom prst="rect">
            <a:avLst/>
          </a:prstGeom>
          <a:noFill/>
          <a:ln/>
        </p:spPr>
        <p:txBody>
          <a:bodyPr wrap="square" lIns="0" tIns="0" rIns="0" bIns="0" rtlCol="0" anchor="ctr"/>
          <a:lstStyle/>
          <a:p>
            <a:pPr indent="0" marL="0">
              <a:buNone/>
            </a:pPr>
            <a:r>
              <a:rPr lang="en-US" sz="4000" b="1" dirty="0">
                <a:solidFill>
                  <a:schemeClr val="accent2"/>
                </a:solidFill>
              </a:rPr>
              <a:t>0.7312</a:t>
            </a:r>
            <a:endParaRPr lang="en-US" sz="4000" dirty="0"/>
          </a:p>
        </p:txBody>
      </p:sp>
      <p:sp>
        <p:nvSpPr>
          <p:cNvPr id="21" name="Text 19"/>
          <p:cNvSpPr txBox="1"/>
          <p:nvPr/>
        </p:nvSpPr>
        <p:spPr>
          <a:xfrm>
            <a:off x="7498080" y="2103120"/>
            <a:ext cx="3840480" cy="320040"/>
          </a:xfrm>
          <a:prstGeom prst="rect">
            <a:avLst/>
          </a:prstGeom>
          <a:noFill/>
          <a:ln/>
        </p:spPr>
        <p:txBody>
          <a:bodyPr wrap="square" lIns="0" tIns="0" rIns="0" bIns="0" rtlCol="0" anchor="t"/>
          <a:lstStyle/>
          <a:p>
            <a:pPr indent="0" marL="0">
              <a:buNone/>
            </a:pPr>
            <a:r>
              <a:rPr lang="en-US" sz="1300" dirty="0">
                <a:solidFill>
                  <a:schemeClr val="accent6"/>
                </a:solidFill>
              </a:rPr>
              <a:t>validation mAP@0.5</a:t>
            </a:r>
            <a:endParaRPr lang="en-US" sz="1300" dirty="0"/>
          </a:p>
        </p:txBody>
      </p:sp>
      <p:sp>
        <p:nvSpPr>
          <p:cNvPr id="22" name="Text 20"/>
          <p:cNvSpPr txBox="1"/>
          <p:nvPr/>
        </p:nvSpPr>
        <p:spPr>
          <a:xfrm>
            <a:off x="7498080" y="2606040"/>
            <a:ext cx="3840480" cy="685800"/>
          </a:xfrm>
          <a:prstGeom prst="rect">
            <a:avLst/>
          </a:prstGeom>
          <a:noFill/>
          <a:ln/>
        </p:spPr>
        <p:txBody>
          <a:bodyPr wrap="square" lIns="0" tIns="0" rIns="0" bIns="0" rtlCol="0" anchor="ctr"/>
          <a:lstStyle/>
          <a:p>
            <a:pPr indent="0" marL="0">
              <a:buNone/>
            </a:pPr>
            <a:r>
              <a:rPr lang="en-US" sz="4000" b="1" dirty="0">
                <a:solidFill>
                  <a:schemeClr val="accent2"/>
                </a:solidFill>
              </a:rPr>
              <a:t>0.7196</a:t>
            </a:r>
            <a:endParaRPr lang="en-US" sz="4000" dirty="0"/>
          </a:p>
        </p:txBody>
      </p:sp>
      <p:sp>
        <p:nvSpPr>
          <p:cNvPr id="23" name="Text 21"/>
          <p:cNvSpPr txBox="1"/>
          <p:nvPr/>
        </p:nvSpPr>
        <p:spPr>
          <a:xfrm>
            <a:off x="7498080" y="3291840"/>
            <a:ext cx="3840480" cy="320040"/>
          </a:xfrm>
          <a:prstGeom prst="rect">
            <a:avLst/>
          </a:prstGeom>
          <a:noFill/>
          <a:ln/>
        </p:spPr>
        <p:txBody>
          <a:bodyPr wrap="square" lIns="0" tIns="0" rIns="0" bIns="0" rtlCol="0" anchor="t"/>
          <a:lstStyle/>
          <a:p>
            <a:pPr indent="0" marL="0">
              <a:buNone/>
            </a:pPr>
            <a:r>
              <a:rPr lang="en-US" sz="1300" dirty="0">
                <a:solidFill>
                  <a:schemeClr val="accent6"/>
                </a:solidFill>
              </a:rPr>
              <a:t>test mAP@0.5</a:t>
            </a:r>
            <a:endParaRPr lang="en-US" sz="1300" dirty="0"/>
          </a:p>
        </p:txBody>
      </p:sp>
      <p:sp>
        <p:nvSpPr>
          <p:cNvPr id="24" name="Text 22"/>
          <p:cNvSpPr txBox="1"/>
          <p:nvPr/>
        </p:nvSpPr>
        <p:spPr>
          <a:xfrm>
            <a:off x="7498080" y="3794760"/>
            <a:ext cx="3840480" cy="685800"/>
          </a:xfrm>
          <a:prstGeom prst="rect">
            <a:avLst/>
          </a:prstGeom>
          <a:noFill/>
          <a:ln/>
        </p:spPr>
        <p:txBody>
          <a:bodyPr wrap="square" lIns="0" tIns="0" rIns="0" bIns="0" rtlCol="0" anchor="ctr"/>
          <a:lstStyle/>
          <a:p>
            <a:pPr indent="0" marL="0">
              <a:buNone/>
            </a:pPr>
            <a:r>
              <a:rPr lang="en-US" sz="4000" b="1" dirty="0">
                <a:solidFill>
                  <a:schemeClr val="accent2"/>
                </a:solidFill>
              </a:rPr>
              <a:t>86.9%</a:t>
            </a:r>
            <a:endParaRPr lang="en-US" sz="4000" dirty="0"/>
          </a:p>
        </p:txBody>
      </p:sp>
      <p:sp>
        <p:nvSpPr>
          <p:cNvPr id="25" name="Text 23"/>
          <p:cNvSpPr txBox="1"/>
          <p:nvPr/>
        </p:nvSpPr>
        <p:spPr>
          <a:xfrm>
            <a:off x="7498080" y="4480560"/>
            <a:ext cx="3840480" cy="320040"/>
          </a:xfrm>
          <a:prstGeom prst="rect">
            <a:avLst/>
          </a:prstGeom>
          <a:noFill/>
          <a:ln/>
        </p:spPr>
        <p:txBody>
          <a:bodyPr wrap="square" lIns="0" tIns="0" rIns="0" bIns="0" rtlCol="0" anchor="t"/>
          <a:lstStyle/>
          <a:p>
            <a:pPr indent="0" marL="0">
              <a:buNone/>
            </a:pPr>
            <a:r>
              <a:rPr lang="en-US" sz="1300" dirty="0">
                <a:solidFill>
                  <a:schemeClr val="accent6"/>
                </a:solidFill>
              </a:rPr>
              <a:t>detected at 0.37% false alarms</a:t>
            </a:r>
            <a:endParaRPr lang="en-US" sz="1300" dirty="0"/>
          </a:p>
        </p:txBody>
      </p:sp>
      <p:sp>
        <p:nvSpPr>
          <p:cNvPr id="26" name="Shape 24"/>
          <p:cNvSpPr/>
          <p:nvPr/>
        </p:nvSpPr>
        <p:spPr>
          <a:xfrm>
            <a:off x="548640" y="5257800"/>
            <a:ext cx="11064240" cy="914400"/>
          </a:xfrm>
          <a:prstGeom prst="roundRect">
            <a:avLst>
              <a:gd name="adj" fmla="val 8000"/>
            </a:avLst>
          </a:prstGeom>
          <a:solidFill>
            <a:schemeClr val="bg2"/>
          </a:solidFill>
          <a:ln w="9525">
            <a:solidFill>
              <a:srgbClr val="D5DAE0"/>
            </a:solidFill>
            <a:prstDash val="solid"/>
          </a:ln>
        </p:spPr>
      </p:sp>
      <p:sp>
        <p:nvSpPr>
          <p:cNvPr id="27" name="Text 25"/>
          <p:cNvSpPr txBox="1"/>
          <p:nvPr/>
        </p:nvSpPr>
        <p:spPr>
          <a:xfrm>
            <a:off x="777240" y="5303520"/>
            <a:ext cx="10607040" cy="822960"/>
          </a:xfrm>
          <a:prstGeom prst="rect">
            <a:avLst/>
          </a:prstGeom>
          <a:noFill/>
          <a:ln/>
        </p:spPr>
        <p:txBody>
          <a:bodyPr wrap="square" lIns="0" tIns="0" rIns="0" bIns="0" rtlCol="0" anchor="ctr"/>
          <a:lstStyle/>
          <a:p>
            <a:pPr indent="0" marL="0">
              <a:buNone/>
            </a:pPr>
            <a:r>
              <a:rPr lang="en-US" sz="1400" b="1" dirty="0">
                <a:solidFill>
                  <a:schemeClr val="accent1"/>
                </a:solidFill>
              </a:rPr>
              <a:t>What it costs:  </a:t>
            </a:r>
            <a:pPr indent="0" marL="0">
              <a:buNone/>
            </a:pPr>
            <a:r>
              <a:rPr lang="en-US" sz="1400" dirty="0">
                <a:solidFill>
                  <a:schemeClr val="tx1"/>
                </a:solidFill>
              </a:rPr>
              <a:t>about 900 ms per frame on CPU and no batched export. MobileNetV3 (2.5 times faster) and FCOS (batchable) are kept for the fast version; ResNet-18 is dropped.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Next goals</a:t>
            </a:r>
            <a:endParaRPr lang="en-US" sz="3000" dirty="0"/>
          </a:p>
        </p:txBody>
      </p:sp>
      <p:sp>
        <p:nvSpPr>
          <p:cNvPr id="3" name="Shape 1"/>
          <p:cNvSpPr/>
          <p:nvPr/>
        </p:nvSpPr>
        <p:spPr>
          <a:xfrm>
            <a:off x="548640" y="1325880"/>
            <a:ext cx="5440680" cy="1024128"/>
          </a:xfrm>
          <a:prstGeom prst="roundRect">
            <a:avLst>
              <a:gd name="adj" fmla="val 7143"/>
            </a:avLst>
          </a:prstGeom>
          <a:solidFill>
            <a:schemeClr val="bg2"/>
          </a:solidFill>
          <a:ln w="9525">
            <a:solidFill>
              <a:srgbClr val="D5DAE0"/>
            </a:solidFill>
            <a:prstDash val="solid"/>
          </a:ln>
        </p:spPr>
      </p:sp>
      <p:sp>
        <p:nvSpPr>
          <p:cNvPr id="4" name="Shape 2"/>
          <p:cNvSpPr/>
          <p:nvPr/>
        </p:nvSpPr>
        <p:spPr>
          <a:xfrm>
            <a:off x="777240" y="1627632"/>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777240" y="16276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417320" y="1435608"/>
            <a:ext cx="4389120" cy="384048"/>
          </a:xfrm>
          <a:prstGeom prst="rect">
            <a:avLst/>
          </a:prstGeom>
          <a:noFill/>
          <a:ln/>
        </p:spPr>
        <p:txBody>
          <a:bodyPr wrap="square" lIns="0" tIns="0" rIns="0" bIns="0" rtlCol="0" anchor="ctr"/>
          <a:lstStyle/>
          <a:p>
            <a:pPr indent="0" marL="0">
              <a:buNone/>
            </a:pPr>
            <a:r>
              <a:rPr lang="en-US" sz="1700" b="1" dirty="0">
                <a:solidFill>
                  <a:schemeClr val="tx1"/>
                </a:solidFill>
              </a:rPr>
              <a:t>Fine-tune the backbone (stage 2)</a:t>
            </a:r>
            <a:endParaRPr lang="en-US" sz="1700" dirty="0"/>
          </a:p>
        </p:txBody>
      </p:sp>
      <p:sp>
        <p:nvSpPr>
          <p:cNvPr id="7" name="Text 5"/>
          <p:cNvSpPr txBox="1"/>
          <p:nvPr/>
        </p:nvSpPr>
        <p:spPr>
          <a:xfrm>
            <a:off x="1417320" y="1828800"/>
            <a:ext cx="4389120" cy="457200"/>
          </a:xfrm>
          <a:prstGeom prst="rect">
            <a:avLst/>
          </a:prstGeom>
          <a:noFill/>
          <a:ln/>
        </p:spPr>
        <p:txBody>
          <a:bodyPr wrap="square" lIns="0" tIns="0" rIns="0" bIns="0" rtlCol="0" anchor="t"/>
          <a:lstStyle/>
          <a:p>
            <a:pPr indent="0" marL="0">
              <a:buNone/>
            </a:pPr>
            <a:r>
              <a:rPr lang="en-US" sz="1300" dirty="0">
                <a:solidFill>
                  <a:schemeClr val="accent6"/>
                </a:solidFill>
              </a:rPr>
              <a:t>Unfreeze the last 2 transformer blocks at a 20 times lower learning rate</a:t>
            </a:r>
            <a:endParaRPr lang="en-US" sz="1300" dirty="0"/>
          </a:p>
        </p:txBody>
      </p:sp>
      <p:sp>
        <p:nvSpPr>
          <p:cNvPr id="8" name="Shape 6"/>
          <p:cNvSpPr/>
          <p:nvPr/>
        </p:nvSpPr>
        <p:spPr>
          <a:xfrm>
            <a:off x="6172200" y="1325880"/>
            <a:ext cx="5440680" cy="1024128"/>
          </a:xfrm>
          <a:prstGeom prst="roundRect">
            <a:avLst>
              <a:gd name="adj" fmla="val 7143"/>
            </a:avLst>
          </a:prstGeom>
          <a:solidFill>
            <a:schemeClr val="bg2"/>
          </a:solidFill>
          <a:ln w="9525">
            <a:solidFill>
              <a:srgbClr val="D5DAE0"/>
            </a:solidFill>
            <a:prstDash val="solid"/>
          </a:ln>
        </p:spPr>
      </p:sp>
      <p:sp>
        <p:nvSpPr>
          <p:cNvPr id="9" name="Shape 7"/>
          <p:cNvSpPr/>
          <p:nvPr/>
        </p:nvSpPr>
        <p:spPr>
          <a:xfrm>
            <a:off x="6400800" y="1627632"/>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6400800" y="162763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7040880" y="1435608"/>
            <a:ext cx="4389120" cy="384048"/>
          </a:xfrm>
          <a:prstGeom prst="rect">
            <a:avLst/>
          </a:prstGeom>
          <a:noFill/>
          <a:ln/>
        </p:spPr>
        <p:txBody>
          <a:bodyPr wrap="square" lIns="0" tIns="0" rIns="0" bIns="0" rtlCol="0" anchor="ctr"/>
          <a:lstStyle/>
          <a:p>
            <a:pPr indent="0" marL="0">
              <a:buNone/>
            </a:pPr>
            <a:r>
              <a:rPr lang="en-US" sz="1700" b="1" dirty="0">
                <a:solidFill>
                  <a:schemeClr val="tx1"/>
                </a:solidFill>
              </a:rPr>
              <a:t>Small and distant fires</a:t>
            </a:r>
            <a:endParaRPr lang="en-US" sz="1700" dirty="0"/>
          </a:p>
        </p:txBody>
      </p:sp>
      <p:sp>
        <p:nvSpPr>
          <p:cNvPr id="12" name="Text 10"/>
          <p:cNvSpPr txBox="1"/>
          <p:nvPr/>
        </p:nvSpPr>
        <p:spPr>
          <a:xfrm>
            <a:off x="7040880" y="1828800"/>
            <a:ext cx="4389120" cy="457200"/>
          </a:xfrm>
          <a:prstGeom prst="rect">
            <a:avLst/>
          </a:prstGeom>
          <a:noFill/>
          <a:ln/>
        </p:spPr>
        <p:txBody>
          <a:bodyPr wrap="square" lIns="0" tIns="0" rIns="0" bIns="0" rtlCol="0" anchor="t"/>
          <a:lstStyle/>
          <a:p>
            <a:pPr indent="0" marL="0">
              <a:buNone/>
            </a:pPr>
            <a:r>
              <a:rPr lang="en-US" sz="1300" dirty="0">
                <a:solidFill>
                  <a:schemeClr val="accent6"/>
                </a:solidFill>
              </a:rPr>
              <a:t>Higher input resolution and scale augmentation</a:t>
            </a:r>
            <a:endParaRPr lang="en-US" sz="1300" dirty="0"/>
          </a:p>
        </p:txBody>
      </p:sp>
      <p:sp>
        <p:nvSpPr>
          <p:cNvPr id="13" name="Shape 11"/>
          <p:cNvSpPr/>
          <p:nvPr/>
        </p:nvSpPr>
        <p:spPr>
          <a:xfrm>
            <a:off x="548640" y="2514600"/>
            <a:ext cx="5440680" cy="1024128"/>
          </a:xfrm>
          <a:prstGeom prst="roundRect">
            <a:avLst>
              <a:gd name="adj" fmla="val 7143"/>
            </a:avLst>
          </a:prstGeom>
          <a:solidFill>
            <a:schemeClr val="bg2"/>
          </a:solidFill>
          <a:ln w="9525">
            <a:solidFill>
              <a:srgbClr val="D5DAE0"/>
            </a:solidFill>
            <a:prstDash val="solid"/>
          </a:ln>
        </p:spPr>
      </p:sp>
      <p:sp>
        <p:nvSpPr>
          <p:cNvPr id="14" name="Shape 12"/>
          <p:cNvSpPr/>
          <p:nvPr/>
        </p:nvSpPr>
        <p:spPr>
          <a:xfrm>
            <a:off x="777240" y="2816352"/>
            <a:ext cx="420624" cy="420624"/>
          </a:xfrm>
          <a:prstGeom prst="ellipse">
            <a:avLst/>
          </a:prstGeom>
          <a:solidFill>
            <a:schemeClr val="accent1"/>
          </a:solidFill>
          <a:ln w="12700">
            <a:solidFill>
              <a:schemeClr val="accent1"/>
            </a:solidFill>
            <a:prstDash val="solid"/>
          </a:ln>
        </p:spPr>
      </p:sp>
      <p:sp>
        <p:nvSpPr>
          <p:cNvPr id="15" name="Text 13"/>
          <p:cNvSpPr txBox="1"/>
          <p:nvPr/>
        </p:nvSpPr>
        <p:spPr>
          <a:xfrm>
            <a:off x="777240" y="28163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1417320" y="2624328"/>
            <a:ext cx="4389120" cy="384048"/>
          </a:xfrm>
          <a:prstGeom prst="rect">
            <a:avLst/>
          </a:prstGeom>
          <a:noFill/>
          <a:ln/>
        </p:spPr>
        <p:txBody>
          <a:bodyPr wrap="square" lIns="0" tIns="0" rIns="0" bIns="0" rtlCol="0" anchor="ctr"/>
          <a:lstStyle/>
          <a:p>
            <a:pPr indent="0" marL="0">
              <a:buNone/>
            </a:pPr>
            <a:r>
              <a:rPr lang="en-US" sz="1700" b="1" dirty="0">
                <a:solidFill>
                  <a:schemeClr val="tx1"/>
                </a:solidFill>
              </a:rPr>
              <a:t>Hard-negative training</a:t>
            </a:r>
            <a:endParaRPr lang="en-US" sz="1700" dirty="0"/>
          </a:p>
        </p:txBody>
      </p:sp>
      <p:sp>
        <p:nvSpPr>
          <p:cNvPr id="17" name="Text 15"/>
          <p:cNvSpPr txBox="1"/>
          <p:nvPr/>
        </p:nvSpPr>
        <p:spPr>
          <a:xfrm>
            <a:off x="1417320" y="3017520"/>
            <a:ext cx="4389120" cy="457200"/>
          </a:xfrm>
          <a:prstGeom prst="rect">
            <a:avLst/>
          </a:prstGeom>
          <a:noFill/>
          <a:ln/>
        </p:spPr>
        <p:txBody>
          <a:bodyPr wrap="square" lIns="0" tIns="0" rIns="0" bIns="0" rtlCol="0" anchor="t"/>
          <a:lstStyle/>
          <a:p>
            <a:pPr indent="0" marL="0">
              <a:buNone/>
            </a:pPr>
            <a:r>
              <a:rPr lang="en-US" sz="1300" dirty="0">
                <a:solidFill>
                  <a:schemeClr val="accent6"/>
                </a:solidFill>
              </a:rPr>
              <a:t>Hard hats, hi-vis clothing, lamps and haze labelled as 'not fire'</a:t>
            </a:r>
            <a:endParaRPr lang="en-US" sz="1300" dirty="0"/>
          </a:p>
        </p:txBody>
      </p:sp>
      <p:sp>
        <p:nvSpPr>
          <p:cNvPr id="18" name="Shape 16"/>
          <p:cNvSpPr/>
          <p:nvPr/>
        </p:nvSpPr>
        <p:spPr>
          <a:xfrm>
            <a:off x="6172200" y="2514600"/>
            <a:ext cx="5440680" cy="1024128"/>
          </a:xfrm>
          <a:prstGeom prst="roundRect">
            <a:avLst>
              <a:gd name="adj" fmla="val 7143"/>
            </a:avLst>
          </a:prstGeom>
          <a:solidFill>
            <a:schemeClr val="bg2"/>
          </a:solidFill>
          <a:ln w="9525">
            <a:solidFill>
              <a:srgbClr val="D5DAE0"/>
            </a:solidFill>
            <a:prstDash val="solid"/>
          </a:ln>
        </p:spPr>
      </p:sp>
      <p:sp>
        <p:nvSpPr>
          <p:cNvPr id="19" name="Shape 17"/>
          <p:cNvSpPr/>
          <p:nvPr/>
        </p:nvSpPr>
        <p:spPr>
          <a:xfrm>
            <a:off x="6400800" y="2816352"/>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6400800" y="281635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7040880" y="2624328"/>
            <a:ext cx="4389120" cy="384048"/>
          </a:xfrm>
          <a:prstGeom prst="rect">
            <a:avLst/>
          </a:prstGeom>
          <a:noFill/>
          <a:ln/>
        </p:spPr>
        <p:txBody>
          <a:bodyPr wrap="square" lIns="0" tIns="0" rIns="0" bIns="0" rtlCol="0" anchor="ctr"/>
          <a:lstStyle/>
          <a:p>
            <a:pPr indent="0" marL="0">
              <a:buNone/>
            </a:pPr>
            <a:r>
              <a:rPr lang="en-US" sz="1700" b="1" dirty="0">
                <a:solidFill>
                  <a:schemeClr val="tx1"/>
                </a:solidFill>
              </a:rPr>
              <a:t>Video testing</a:t>
            </a:r>
            <a:endParaRPr lang="en-US" sz="1700" dirty="0"/>
          </a:p>
        </p:txBody>
      </p:sp>
      <p:sp>
        <p:nvSpPr>
          <p:cNvPr id="22" name="Text 20"/>
          <p:cNvSpPr txBox="1"/>
          <p:nvPr/>
        </p:nvSpPr>
        <p:spPr>
          <a:xfrm>
            <a:off x="7040880" y="3017520"/>
            <a:ext cx="4389120" cy="457200"/>
          </a:xfrm>
          <a:prstGeom prst="rect">
            <a:avLst/>
          </a:prstGeom>
          <a:noFill/>
          <a:ln/>
        </p:spPr>
        <p:txBody>
          <a:bodyPr wrap="square" lIns="0" tIns="0" rIns="0" bIns="0" rtlCol="0" anchor="t"/>
          <a:lstStyle/>
          <a:p>
            <a:pPr indent="0" marL="0">
              <a:buNone/>
            </a:pPr>
            <a:r>
              <a:rPr lang="en-US" sz="1300" dirty="0">
                <a:solidFill>
                  <a:schemeClr val="accent6"/>
                </a:solidFill>
              </a:rPr>
              <a:t>Industrial footage with temporal confirmation: 6 detections in 15 frames</a:t>
            </a:r>
            <a:endParaRPr lang="en-US" sz="1300" dirty="0"/>
          </a:p>
        </p:txBody>
      </p:sp>
      <p:sp>
        <p:nvSpPr>
          <p:cNvPr id="23" name="Shape 21"/>
          <p:cNvSpPr/>
          <p:nvPr/>
        </p:nvSpPr>
        <p:spPr>
          <a:xfrm>
            <a:off x="548640" y="3703320"/>
            <a:ext cx="5440680" cy="1024128"/>
          </a:xfrm>
          <a:prstGeom prst="roundRect">
            <a:avLst>
              <a:gd name="adj" fmla="val 7143"/>
            </a:avLst>
          </a:prstGeom>
          <a:solidFill>
            <a:schemeClr val="bg2"/>
          </a:solidFill>
          <a:ln w="9525">
            <a:solidFill>
              <a:srgbClr val="D5DAE0"/>
            </a:solidFill>
            <a:prstDash val="solid"/>
          </a:ln>
        </p:spPr>
      </p:sp>
      <p:sp>
        <p:nvSpPr>
          <p:cNvPr id="24" name="Shape 22"/>
          <p:cNvSpPr/>
          <p:nvPr/>
        </p:nvSpPr>
        <p:spPr>
          <a:xfrm>
            <a:off x="777240" y="4005072"/>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777240" y="40050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 24"/>
          <p:cNvSpPr txBox="1"/>
          <p:nvPr/>
        </p:nvSpPr>
        <p:spPr>
          <a:xfrm>
            <a:off x="1417320" y="3813048"/>
            <a:ext cx="4389120" cy="384048"/>
          </a:xfrm>
          <a:prstGeom prst="rect">
            <a:avLst/>
          </a:prstGeom>
          <a:noFill/>
          <a:ln/>
        </p:spPr>
        <p:txBody>
          <a:bodyPr wrap="square" lIns="0" tIns="0" rIns="0" bIns="0" rtlCol="0" anchor="ctr"/>
          <a:lstStyle/>
          <a:p>
            <a:pPr indent="0" marL="0">
              <a:buNone/>
            </a:pPr>
            <a:r>
              <a:rPr lang="en-US" sz="1700" b="1" dirty="0">
                <a:solidFill>
                  <a:schemeClr val="tx1"/>
                </a:solidFill>
              </a:rPr>
              <a:t>A fast version for 70 cameras</a:t>
            </a:r>
            <a:endParaRPr lang="en-US" sz="1700" dirty="0"/>
          </a:p>
        </p:txBody>
      </p:sp>
      <p:sp>
        <p:nvSpPr>
          <p:cNvPr id="27" name="Text 25"/>
          <p:cNvSpPr txBox="1"/>
          <p:nvPr/>
        </p:nvSpPr>
        <p:spPr>
          <a:xfrm>
            <a:off x="1417320" y="4206240"/>
            <a:ext cx="4389120" cy="457200"/>
          </a:xfrm>
          <a:prstGeom prst="rect">
            <a:avLst/>
          </a:prstGeom>
          <a:noFill/>
          <a:ln/>
        </p:spPr>
        <p:txBody>
          <a:bodyPr wrap="square" lIns="0" tIns="0" rIns="0" bIns="0" rtlCol="0" anchor="t"/>
          <a:lstStyle/>
          <a:p>
            <a:pPr indent="0" marL="0">
              <a:buNone/>
            </a:pPr>
            <a:r>
              <a:rPr lang="en-US" sz="1300" dirty="0">
                <a:solidFill>
                  <a:schemeClr val="accent6"/>
                </a:solidFill>
              </a:rPr>
              <a:t>MobileNetV3 backbone and FCOS head, exported for GPU batching</a:t>
            </a:r>
            <a:endParaRPr lang="en-US" sz="1300" dirty="0"/>
          </a:p>
        </p:txBody>
      </p:sp>
      <p:sp>
        <p:nvSpPr>
          <p:cNvPr id="28" name="Shape 26"/>
          <p:cNvSpPr/>
          <p:nvPr/>
        </p:nvSpPr>
        <p:spPr>
          <a:xfrm>
            <a:off x="6172200" y="3703320"/>
            <a:ext cx="5440680" cy="1024128"/>
          </a:xfrm>
          <a:prstGeom prst="roundRect">
            <a:avLst>
              <a:gd name="adj" fmla="val 7143"/>
            </a:avLst>
          </a:prstGeom>
          <a:solidFill>
            <a:schemeClr val="bg2"/>
          </a:solidFill>
          <a:ln w="9525">
            <a:solidFill>
              <a:srgbClr val="D5DAE0"/>
            </a:solidFill>
            <a:prstDash val="solid"/>
          </a:ln>
        </p:spPr>
      </p:sp>
      <p:sp>
        <p:nvSpPr>
          <p:cNvPr id="29" name="Shape 27"/>
          <p:cNvSpPr/>
          <p:nvPr/>
        </p:nvSpPr>
        <p:spPr>
          <a:xfrm>
            <a:off x="6400800" y="4005072"/>
            <a:ext cx="420624" cy="420624"/>
          </a:xfrm>
          <a:prstGeom prst="ellipse">
            <a:avLst/>
          </a:prstGeom>
          <a:solidFill>
            <a:schemeClr val="accent1"/>
          </a:solidFill>
          <a:ln w="12700">
            <a:solidFill>
              <a:schemeClr val="accent1"/>
            </a:solidFill>
            <a:prstDash val="solid"/>
          </a:ln>
        </p:spPr>
      </p:sp>
      <p:sp>
        <p:nvSpPr>
          <p:cNvPr id="30" name="Text 28"/>
          <p:cNvSpPr txBox="1"/>
          <p:nvPr/>
        </p:nvSpPr>
        <p:spPr>
          <a:xfrm>
            <a:off x="6400800" y="40050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Text 29"/>
          <p:cNvSpPr txBox="1"/>
          <p:nvPr/>
        </p:nvSpPr>
        <p:spPr>
          <a:xfrm>
            <a:off x="7040880" y="3813048"/>
            <a:ext cx="4389120" cy="384048"/>
          </a:xfrm>
          <a:prstGeom prst="rect">
            <a:avLst/>
          </a:prstGeom>
          <a:noFill/>
          <a:ln/>
        </p:spPr>
        <p:txBody>
          <a:bodyPr wrap="square" lIns="0" tIns="0" rIns="0" bIns="0" rtlCol="0" anchor="ctr"/>
          <a:lstStyle/>
          <a:p>
            <a:pPr indent="0" marL="0">
              <a:buNone/>
            </a:pPr>
            <a:r>
              <a:rPr lang="en-US" sz="1700" b="1" dirty="0">
                <a:solidFill>
                  <a:schemeClr val="tx1"/>
                </a:solidFill>
              </a:rPr>
              <a:t>Data from the site's own cameras</a:t>
            </a:r>
            <a:endParaRPr lang="en-US" sz="1700" dirty="0"/>
          </a:p>
        </p:txBody>
      </p:sp>
      <p:sp>
        <p:nvSpPr>
          <p:cNvPr id="32" name="Text 30"/>
          <p:cNvSpPr txBox="1"/>
          <p:nvPr/>
        </p:nvSpPr>
        <p:spPr>
          <a:xfrm>
            <a:off x="7040880" y="4206240"/>
            <a:ext cx="4389120" cy="457200"/>
          </a:xfrm>
          <a:prstGeom prst="rect">
            <a:avLst/>
          </a:prstGeom>
          <a:noFill/>
          <a:ln/>
        </p:spPr>
        <p:txBody>
          <a:bodyPr wrap="square" lIns="0" tIns="0" rIns="0" bIns="0" rtlCol="0" anchor="t"/>
          <a:lstStyle/>
          <a:p>
            <a:pPr indent="0" marL="0">
              <a:buNone/>
            </a:pPr>
            <a:r>
              <a:rPr lang="en-US" sz="1300" dirty="0">
                <a:solidFill>
                  <a:schemeClr val="accent6"/>
                </a:solidFill>
              </a:rPr>
              <a:t>Labelled with one consistent rule</a:t>
            </a:r>
            <a:endParaRPr lang="en-US" sz="1300" dirty="0"/>
          </a:p>
        </p:txBody>
      </p:sp>
      <p:sp>
        <p:nvSpPr>
          <p:cNvPr id="33" name="Text 31"/>
          <p:cNvSpPr txBox="1"/>
          <p:nvPr/>
        </p:nvSpPr>
        <p:spPr>
          <a:xfrm>
            <a:off x="548640" y="5074920"/>
            <a:ext cx="11064240" cy="822960"/>
          </a:xfrm>
          <a:prstGeom prst="rect">
            <a:avLst/>
          </a:prstGeom>
          <a:noFill/>
          <a:ln/>
        </p:spPr>
        <p:txBody>
          <a:bodyPr wrap="square" lIns="0" tIns="0" rIns="0" bIns="0" rtlCol="0" anchor="ctr"/>
          <a:lstStyle/>
          <a:p>
            <a:pPr indent="0" marL="0">
              <a:buNone/>
            </a:pPr>
            <a:r>
              <a:rPr lang="en-US" sz="1400" b="1" dirty="0">
                <a:solidFill>
                  <a:schemeClr val="accent6"/>
                </a:solidFill>
              </a:rPr>
              <a:t>Documents:  </a:t>
            </a:r>
            <a:pPr indent="0" marL="0">
              <a:buNone/>
            </a:pPr>
            <a:r>
              <a:rPr lang="en-US" sz="1400" dirty="0">
                <a:solidFill>
                  <a:schemeClr val="accent6"/>
                </a:solidFill>
              </a:rPr>
              <a:t>project log, model selection report (21 pages, results of every epoch), training report, technical and research report, source code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Fire and Smoke">
  <a:themeElements>
    <a:clrScheme name="Fire and Smoke">
      <a:dk1>
        <a:srgbClr val="1A1A1A"/>
      </a:dk1>
      <a:lt1>
        <a:srgbClr val="FFFFFF"/>
      </a:lt1>
      <a:dk2>
        <a:srgbClr val="1C2127"/>
      </a:dk2>
      <a:lt2>
        <a:srgbClr val="F3F5F7"/>
      </a:lt2>
      <a:accent1>
        <a:srgbClr val="E4572E"/>
      </a:accent1>
      <a:accent2>
        <a:srgbClr val="1F6F8B"/>
      </a:accent2>
      <a:accent3>
        <a:srgbClr val="2E7D32"/>
      </a:accent3>
      <a:accent4>
        <a:srgbClr val="C62828"/>
      </a:accent4>
      <a:accent5>
        <a:srgbClr val="EF6C00"/>
      </a:accent5>
      <a:accent6>
        <a:srgbClr val="5B6670"/>
      </a:accent6>
      <a:hlink>
        <a:srgbClr val="1F6F8B"/>
      </a:hlink>
      <a:folHlink>
        <a:srgbClr val="5B6670"/>
      </a:folHlink>
    </a:clrScheme>
    <a:fontScheme name="Fire and Smok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 and smoke detection - model selection (stage 1)</dc:title>
  <dc:subject>PptxGenJS Presentation</dc:subject>
  <dc:creator>PptxGenJS</dc:creator>
  <cp:lastModifiedBy>PptxGenJS</cp:lastModifiedBy>
  <cp:revision>1</cp:revision>
  <dcterms:created xsi:type="dcterms:W3CDTF">2026-10-07T17:41:12Z</dcterms:created>
  <dcterms:modified xsi:type="dcterms:W3CDTF">2026-10-07T17:41:12Z</dcterms:modified>
</cp:coreProperties>
</file>