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Arial"/>
              </a:rPr>
              <a:t>Augmentation: chance per training image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crop</c:v>
                  </c:pt>
                  <c:pt idx="1">
                    <c:v>colour jitter</c:v>
                  </c:pt>
                  <c:pt idx="2">
                    <c:v>flip</c:v>
                  </c:pt>
                  <c:pt idx="3">
                    <c:v>night (low light)</c:v>
                  </c:pt>
                  <c:pt idx="4">
                    <c:v>flame occlusion</c:v>
                  </c:pt>
                  <c:pt idx="5">
                    <c:v>IR / grayscale</c:v>
                  </c:pt>
                  <c:pt idx="6">
                    <c:v>motion blur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</c:v>
                </c:pt>
                <c:pt idx="1">
                  <c:v>0.8</c:v>
                </c:pt>
                <c:pt idx="2">
                  <c:v>0.5</c:v>
                </c:pt>
                <c:pt idx="3">
                  <c:v>0.35</c:v>
                </c:pt>
                <c:pt idx="4">
                  <c:v>0.25</c:v>
                </c:pt>
                <c:pt idx="5">
                  <c:v>0.1</c:v>
                </c:pt>
                <c:pt idx="6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6E9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1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Test mAP@0.5</c:v>
                  </c:pt>
                  <c:pt idx="1">
                    <c:v>Recall at 0.7% FPR</c:v>
                  </c:pt>
                  <c:pt idx="2">
                    <c:v>Fire AP50</c:v>
                  </c:pt>
                  <c:pt idx="3">
                    <c:v>Smoke AP50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0.726</c:v>
                </c:pt>
                <c:pt idx="1">
                  <c:v>0.875</c:v>
                </c:pt>
                <c:pt idx="2">
                  <c:v>0.638</c:v>
                </c:pt>
                <c:pt idx="3">
                  <c:v>0.815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2 (light)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Test mAP@0.5</c:v>
                  </c:pt>
                  <c:pt idx="1">
                    <c:v>Recall at 0.7% FPR</c:v>
                  </c:pt>
                  <c:pt idx="2">
                    <c:v>Fire AP50</c:v>
                  </c:pt>
                  <c:pt idx="3">
                    <c:v>Smoke AP50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0.613</c:v>
                </c:pt>
                <c:pt idx="1">
                  <c:v>0.763</c:v>
                </c:pt>
                <c:pt idx="2">
                  <c:v>0.509</c:v>
                </c:pt>
                <c:pt idx="3">
                  <c:v>0.716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models share one pipeline. Model 1 is the accurate reference; Model 2 is the light, batch-exportable variant.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DINO is never removed: both models run DINOv3 first. The two heads share one backbone pass. The temporal step is rules, not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Faster R-CNN asks 'where might something be?' then checks each candidate. FCOS asks every location at once. That fixed-shape output is what makes FCOS batchable for many cameras.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is the batch: several cameras' frames at once. Only Model 2 can run batched after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2 changes the backbone size and the head. Input size stays 640 because smaller inputs lost too much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data, optimiser and augmentation for both models, so the comparison isolates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flicker never lands on the same track, so it never reaches 6 hits. Stationary look-alikes can, which is why hard negatives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8500 = candidate locations over the 4 pyramid levels at 640 px. Decoding and NMS run after the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matters for live cameras: without dropping stale frames the system would alarm on old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2 is faster, smaller and deployable, but not yet as accurate. Model 1 remains the accuracy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designed for multi-camera scaling; the final model and camera capacity come from these experiments and GPU benchmarking.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&amp; Smoke Detection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57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industrial cameras, built on DINOv3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·  parameters  ·  output  ·  how it runs  ·  the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420624" cy="420624"/>
          </a:xfrm>
          <a:prstGeom prst="ellipse">
            <a:avLst/>
          </a:prstGeom>
          <a:solidFill>
            <a:srgbClr val="5B6670"/>
          </a:solidFill>
          <a:ln w="12700">
            <a:solidFill>
              <a:srgbClr val="5B66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4114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416052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114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DINOv3 backbone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4160520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4114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scene heads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4160520"/>
            <a:ext cx="420624" cy="42062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114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confirmation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4160520"/>
            <a:ext cx="420624" cy="42062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195560" y="4114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DINOv3 ViT-S + Faster R-CNN      Model 2: DINOv3 ViT-Ti + FCOS (light)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end to 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in, boxes and an alarm decision 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3F5F7"/>
          </a:solidFill>
          <a:ln w="22225">
            <a:solidFill>
              <a:srgbClr val="5B66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Camera frame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webcam, video file or CCTV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01568" y="160020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3F5F7"/>
          </a:solidFill>
          <a:ln w="22225">
            <a:solidFill>
              <a:srgbClr val="5B66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47288" y="160020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Pre-process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to 640 x 640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RGB, ImageNet mean/std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E3EEF4"/>
          </a:solidFill>
          <a:ln w="22225">
            <a:solidFill>
              <a:srgbClr val="1F6F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0216" y="160020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DINOv3 backbone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 (M1) or ViT-Ti (M2)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frozen, self-supervised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07424" y="160020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E8F1E9"/>
          </a:solidFill>
          <a:ln w="22225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53144" y="160020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Feature pyramid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5/8/9/11 -&gt;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strides 8, 16, 32, 64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01568" y="315468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FBF0DF"/>
          </a:solidFill>
          <a:ln w="22225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7288" y="315468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prior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CV, no learning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warm-light statistics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315468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E8F1E9"/>
          </a:solidFill>
          <a:ln w="22225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315468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classifier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image -&gt; P(smoke), P(fire)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hidden-fire glow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07424" y="3154680"/>
            <a:ext cx="2423160" cy="960120"/>
          </a:xfrm>
          <a:prstGeom prst="roundRect">
            <a:avLst>
              <a:gd name="adj" fmla="val 9524"/>
            </a:avLst>
          </a:prstGeom>
          <a:solidFill>
            <a:srgbClr val="E8F1E9"/>
          </a:solidFill>
          <a:ln w="22225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53144" y="315468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Detection head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(M1) / FCOS (M2)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boxes: smoke, fire + score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54496" y="4709160"/>
            <a:ext cx="5276088" cy="960120"/>
          </a:xfrm>
          <a:prstGeom prst="roundRect">
            <a:avLst>
              <a:gd name="adj" fmla="val 9524"/>
            </a:avLst>
          </a:prstGeom>
          <a:solidFill>
            <a:srgbClr val="FBF0DF"/>
          </a:solidFill>
          <a:ln w="22225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0216" y="4709160"/>
            <a:ext cx="51846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Temporal confirmation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only if the SAME tracked object is seen in 6 of the last 15 sampled frames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276088" cy="960120"/>
          </a:xfrm>
          <a:prstGeom prst="roundRect">
            <a:avLst>
              <a:gd name="adj" fmla="val 9524"/>
            </a:avLst>
          </a:prstGeom>
          <a:solidFill>
            <a:srgbClr val="FCE7E1"/>
          </a:solidFill>
          <a:ln w="22225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709160"/>
            <a:ext cx="51846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ALARM + event log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alarm, CSV of every alarm on/off, annotated video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71800" y="2080260"/>
            <a:ext cx="429768" cy="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24728" y="2080260"/>
            <a:ext cx="429768" cy="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77656" y="2080260"/>
            <a:ext cx="429768" cy="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13148" y="2560320"/>
            <a:ext cx="0" cy="59436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66076" y="2560320"/>
            <a:ext cx="0" cy="594360"/>
          </a:xfrm>
          <a:prstGeom prst="line">
            <a:avLst/>
          </a:prstGeom>
          <a:noFill/>
          <a:ln w="22225">
            <a:solidFill>
              <a:srgbClr val="1F6F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19004" y="2560320"/>
            <a:ext cx="0" cy="59436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24728" y="3634740"/>
            <a:ext cx="429768" cy="0"/>
          </a:xfrm>
          <a:prstGeom prst="line">
            <a:avLst/>
          </a:prstGeom>
          <a:noFill/>
          <a:ln w="22225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19004" y="4114800"/>
            <a:ext cx="0" cy="59436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66076" y="4114800"/>
            <a:ext cx="0" cy="59436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5824728" y="5189220"/>
            <a:ext cx="429768" cy="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frozen DINOv3   Green = trained   Amber = rule-based   Red = output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detection heads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turn DINOv3 features into boxes, in different 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E3EEF4"/>
          </a:solidFill>
          <a:ln w="22225">
            <a:solidFill>
              <a:srgbClr val="1F6F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 (Model 1)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 propose, then check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432304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77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 network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over the feature maps and proposes ~300 candidate regions: "something might be here"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145536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9067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RoIAlign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a fixed 7 x 7 feature patch for each proposed region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0390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head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patch as smoke, fire or background, and refines its box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51713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 suppression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best box where several overlap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578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at high confidence; the stronger model here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regions varies per image, so it cannot be exported as a batched graph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46304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E8F1E9"/>
          </a:solidFill>
          <a:ln w="22225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15727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FCOS  (Model 2)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one-stage: every location predicts directly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37960" y="2432304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377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location votes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8,500 points across the 4 pyramid levels predict at once, no proposals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145536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09067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score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this point is on smoke or on fire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3858768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80390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+ centerness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to the 4 box edges, and how central the point is in its object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4572000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51713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NMS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sqrt(class x centerness), then keep the best boxes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52578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Fixed-shape output: batches across cameras, exports to TensorRT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compressed (max ~0.75), so it needs its own threshold; less accurate in our run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receives, and in what shape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resolution (site cameras: 1280 x 720). Webcam, video file or CCTV stream.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231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to 640 x 640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kept, grey padding. Resolution is fixed: 448 px was measured to cost 24 points of recall.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91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scaled to 0-1, then ImageNet mean/std, as DINOv3 expects.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420624" cy="42062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160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statistics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numbers from the frame (warm cast, highlights, glow blobs) for the scene classifier.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samples 1-5 frames per second per camera, not every frame.</a:t>
            </a:r>
            <a:endParaRPr lang="en-US" sz="1500" dirty="0"/>
          </a:p>
        </p:txBody>
      </p:sp>
      <p:pic>
        <p:nvPicPr>
          <p:cNvPr id="19" name="Image 0" descr="C:\Users\BIT\Desktop\fire and smoke\output\augmentation_examp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12080" cy="34747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400800" y="5074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inputs are augmented to match the site: original, night, IR, and a flame hidden behind an obstacle.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566928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5669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Tensors:  images (B, 3, 640, 640)  ·  glow (B, 7)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parameters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two sizes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23160"/>
                <a:gridCol w="2423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 (light)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DINOv3 ViT-S/16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DINOv3 ViT-Ti/16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dim /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 /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/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pyramid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channels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channels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R-CNN (two-stage)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FCOS (one-stage), 2 convs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x 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x 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Batched ONNX export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 measured to 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 verified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50876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600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5.7x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288036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2.8x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 frame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03920" y="425196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0" y="4343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0.726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4983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test mAP@0.5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parameters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D-Fire dataset, trained on a Kaggle P100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13,776 / val 3,445 / test 4,306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negatives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9,838 images (45.7%)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weight decay 1e-4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1e-4, warmup 500 iters, cosine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(Model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2 blocks unfrozen, lr 5e-5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 fp16 mixed 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M1: 40 + 15    M2: 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validation mAP@0.5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675120" y="141732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5715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IR and occlusion exist to match the deployment site, not the web images in D-Fire.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and alarm parameters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detection becomes an alarm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0.90  ·  M2 0.55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at its own operating point: M2 never scores above ~0.75.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threshold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0.75  ·  M2 0.40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this, a detection no longer counts as evidence.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sampled frames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sliding window the confirmation looks back over.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hits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15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of the same tracked object needed to raise the alarm.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794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hits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15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Hysteresis: a briefly hidden flame does not switch the alarm off.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794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0.20 · min box 4 px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boxes frame to frame; drops tiny junk boxes.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out for every processed frame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[x1, y1, x2, y2] in the original camera's pixels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77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score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or fire, confidence 0-1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00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probabilities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P(smoke), P(fire) for the whole image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420624" cy="42062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233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state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track, class, hits in window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82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46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video + CSV event log + alarm snapshots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from the live lighter test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577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822960"/>
                <a:gridCol w="8229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ALARM_ON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3/8 hits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ALARM_OFF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ALARM_ON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3/8 hits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035040" y="3840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export outputs (Model 2, for TensorRT)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35040" y="4251960"/>
            <a:ext cx="5577840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429768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cls_logits       (B, 8500,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bbox_regression  (B, 8500, 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bbox_ctrness     (B, 8500,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scene_logits     (B, 2)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runs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frame, in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44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newest frame (stale frames are dropped, so it never lags behind)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848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to 640 x 640, normalise, compute the 7 glow statistics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249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DINOv3 backbone -&gt; feature pyramid (one pass, shared by both heads)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649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head -&gt; boxes; scene classifier -&gt; P(smoke), P(fire)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050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boxes back to camera pixels; drop tiny boxes and masked regions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420624" cy="42062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645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tracks; raise or release the alarm by the 6-of-15 rule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420624" cy="42062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2852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on-screen display, write the video and the event log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1463040"/>
            <a:ext cx="4480560" cy="1783080"/>
          </a:xfrm>
          <a:prstGeom prst="roundRect">
            <a:avLst>
              <a:gd name="adj" fmla="val 5128"/>
            </a:avLst>
          </a:prstGeom>
          <a:solidFill>
            <a:srgbClr val="1C2127"/>
          </a:solidFill>
          <a:ln w="12700">
            <a:solidFill>
              <a:srgbClr val="1C21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15544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run_both_models.bat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 one model, webcam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 one model, site video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 both side by side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q to stop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0" y="35204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849 ms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per frame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18320" y="35204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3F5F7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183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305 ms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per frame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120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CPU, same frames. On a GPU with batching, only Model 2 can use TensorRT.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split of 4,306 images, plus real site footage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1214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54 min of site footage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models, at their own thresholds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971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2.8x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6301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faster: Model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vs 849 ms per frame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480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 pts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5138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cost of Model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false-alarm rate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9164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2, stage 2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its last 2 blocks. It trains only 1.5M parameters today, so it should gain more than Model 1 did.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889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 + FCOS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1's backbone with Model 2's head: batched export without the accuracy loss, if it holds.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420624" cy="42062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88620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negatives from the site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hats, hi-vis and dusty haze as training negatives.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420624" cy="42062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98348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 the target GPU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fp16 with batching, before any camera count is stated.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&amp; Smoke Detection - DINOv3 pipeline</dc:title>
  <dc:subject>PptxGenJS Presentation</dc:subject>
  <dc:creator>PptxGenJS</dc:creator>
  <cp:lastModifiedBy>PptxGenJS</cp:lastModifiedBy>
  <cp:revision>1</cp:revision>
  <dcterms:created xsi:type="dcterms:W3CDTF">2026-09-22T09:08:53Z</dcterms:created>
  <dcterms:modified xsi:type="dcterms:W3CDTF">2026-09-22T09:08:53Z</dcterms:modified>
</cp:coreProperties>
</file>